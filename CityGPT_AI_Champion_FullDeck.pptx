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0F172A"/>
                </a:solidFill>
                <a:latin typeface="Calibri"/>
              </a:rPr>
              <a:t>Weekly Active CityGPT Users (Pilot → Org-wide)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Weekly active users</c:v>
                </c:pt>
              </c:strCache>
            </c:strRef>
          </c:tx>
          <c:spPr>
            <a:solidFill>
              <a:srgbClr val="059669"/>
            </a:solidFill>
            <a:ln w="381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  <c:pt idx="8">
                    <c:v>W9</c:v>
                  </c:pt>
                  <c:pt idx="9">
                    <c:v>W10</c:v>
                  </c:pt>
                  <c:pt idx="10">
                    <c:v>W11</c:v>
                  </c:pt>
                  <c:pt idx="11">
                    <c:v>W12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</c:v>
                </c:pt>
                <c:pt idx="1">
                  <c:v>9</c:v>
                </c:pt>
                <c:pt idx="2">
                  <c:v>18</c:v>
                </c:pt>
                <c:pt idx="3">
                  <c:v>27</c:v>
                </c:pt>
                <c:pt idx="4">
                  <c:v>34</c:v>
                </c:pt>
                <c:pt idx="5">
                  <c:v>41</c:v>
                </c:pt>
                <c:pt idx="6">
                  <c:v>46</c:v>
                </c:pt>
                <c:pt idx="7">
                  <c:v>50</c:v>
                </c:pt>
                <c:pt idx="8">
                  <c:v>53</c:v>
                </c:pt>
                <c:pt idx="9">
                  <c:v>56</c:v>
                </c:pt>
                <c:pt idx="10">
                  <c:v>58</c:v>
                </c:pt>
                <c:pt idx="11">
                  <c:v>60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(org-wide ramp)</c:v>
                </c:pt>
              </c:strCache>
            </c:strRef>
          </c:tx>
          <c:spPr>
            <a:solidFill>
              <a:srgbClr val="D97706"/>
            </a:solidFill>
            <a:ln w="381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  <c:pt idx="8">
                    <c:v>W9</c:v>
                  </c:pt>
                  <c:pt idx="9">
                    <c:v>W10</c:v>
                  </c:pt>
                  <c:pt idx="10">
                    <c:v>W11</c:v>
                  </c:pt>
                  <c:pt idx="11">
                    <c:v>W12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</c:v>
                </c:pt>
                <c:pt idx="1">
                  <c:v>25</c:v>
                </c:pt>
                <c:pt idx="2">
                  <c:v>50</c:v>
                </c:pt>
                <c:pt idx="3">
                  <c:v>80</c:v>
                </c:pt>
                <c:pt idx="4">
                  <c:v>120</c:v>
                </c:pt>
                <c:pt idx="5">
                  <c:v>170</c:v>
                </c:pt>
                <c:pt idx="6">
                  <c:v>220</c:v>
                </c:pt>
                <c:pt idx="7">
                  <c:v>280</c:v>
                </c:pt>
                <c:pt idx="8">
                  <c:v>340</c:v>
                </c:pt>
                <c:pt idx="9">
                  <c:v>400</c:v>
                </c:pt>
                <c:pt idx="10">
                  <c:v>460</c:v>
                </c:pt>
                <c:pt idx="11">
                  <c:v>500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29260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CHAMPION COMPETITION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CityGPT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 Program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3017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internal AI knowledge access company-wide through OpenWebUI — custom models, curated knowledge bases, and hands-on prompt training.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3611880"/>
            <a:ext cx="26212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792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737360" y="3611880"/>
            <a:ext cx="1203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 trained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61360" y="3611880"/>
            <a:ext cx="26212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25952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541520" y="3611880"/>
            <a:ext cx="1203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bases live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65520" y="3611880"/>
            <a:ext cx="26212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30112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345680" y="3611880"/>
            <a:ext cx="1203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time saved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" y="428853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58368" y="4462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Gupta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401568" y="428853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401568" y="4462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/ IT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44768" y="428853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144768" y="4462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CityGPT on OpenWebUI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48463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4901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Ventures   |   AI Champion Submission   |   2026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31520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/ 15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 ·  TL;DR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005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4000500" cy="54864"/>
          </a:xfrm>
          <a:prstGeom prst="rect">
            <a:avLst/>
          </a:prstGeom>
          <a:solidFill>
            <a:srgbClr val="BE123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3560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417320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" y="1801368"/>
            <a:ext cx="35433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workers lose ~2 hrs/day searching scattered SOPs, policies &amp; vendor docs across SharePoint, Drive, and email. &lt;10% of staff use AI tools effectively.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86300" y="1234440"/>
            <a:ext cx="40005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86300" y="1234440"/>
            <a:ext cx="4000500" cy="54864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143560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80660" y="1417320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914900" y="1801368"/>
            <a:ext cx="35433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CityGPT — self-hosted OpenWebUI deployment with department-specific knowledge bases, custom models, structured prompt library, and a hands-on training curriculum.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108960"/>
            <a:ext cx="40005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108960"/>
            <a:ext cx="4000500" cy="54864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1012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3291840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(PILOT)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85800" y="3675888"/>
            <a:ext cx="35433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→ 30 sec per lookup · 50+ trained users · 8 KBs live · ~440 hrs saved/month · ≈ MMK 4.4M monthly value.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686300" y="3108960"/>
            <a:ext cx="40005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86300" y="3108960"/>
            <a:ext cx="4000500" cy="54864"/>
          </a:xfrm>
          <a:prstGeom prst="rect">
            <a:avLst/>
          </a:prstGeom>
          <a:solidFill>
            <a:srgbClr val="1D4ED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331012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80660" y="3291840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914900" y="3675888"/>
            <a:ext cx="35433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500+ users across NearMe, Ninja Van, PSL, HUB-HR, Finance &amp; Legal — 90-day rollout with department champions and KB owners.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48463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19"/>
          <p:cNvSpPr/>
          <p:nvPr/>
        </p:nvSpPr>
        <p:spPr>
          <a:xfrm>
            <a:off x="457200" y="4901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CITYGPT ENABLEMENT PROGRAM   |   Rahul Gupta · Digital / IT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731520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15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 ·  PROBLEM + IMPACT BEFORE 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777240"/>
          </a:xfrm>
          <a:prstGeom prst="rect">
            <a:avLst/>
          </a:prstGeom>
          <a:solidFill>
            <a:srgbClr val="BE123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5331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2801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8992" y="15087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spent hours searching scattered SOPs, policies, and vendor docs across SharePoint, Drive, and email — and public ChatGPT couldn't see internal data. AI usage was inconsistent and untrained.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148840"/>
            <a:ext cx="397764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5000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3134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BEFORE AI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40080" y="2788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96596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time to find one policy/SOP answer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40080" y="322783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hrs/day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965960" y="32278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by each knowledge worker on lookups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40080" y="366674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&lt;10%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965960" y="366674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staff using any AI tool effectively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40080" y="410565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965960" y="410565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knowledge bases connected to AI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709160" y="2148840"/>
            <a:ext cx="397764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2350008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303520" y="23134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AFFECTED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892040" y="2916936"/>
            <a:ext cx="128016" cy="12801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4" name="Text 19"/>
          <p:cNvSpPr/>
          <p:nvPr/>
        </p:nvSpPr>
        <p:spPr>
          <a:xfrm>
            <a:off x="5102352" y="27889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People Ops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702552" y="2788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lookup, leave rules, onboarding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892040" y="3355848"/>
            <a:ext cx="128016" cy="12801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7" name="Text 22"/>
          <p:cNvSpPr/>
          <p:nvPr/>
        </p:nvSpPr>
        <p:spPr>
          <a:xfrm>
            <a:off x="5102352" y="32278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CS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702552" y="32278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retrieval, vendor escalation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892040" y="3794760"/>
            <a:ext cx="128016" cy="12801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0" name="Text 25"/>
          <p:cNvSpPr/>
          <p:nvPr/>
        </p:nvSpPr>
        <p:spPr>
          <a:xfrm>
            <a:off x="5102352" y="366674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Legal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702552" y="366674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refs, compliance checks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892040" y="4233672"/>
            <a:ext cx="128016" cy="12801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3" name="Text 28"/>
          <p:cNvSpPr/>
          <p:nvPr/>
        </p:nvSpPr>
        <p:spPr>
          <a:xfrm>
            <a:off x="5102352" y="410565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Engineering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6702552" y="410565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Runbooks, incident response, docs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57200" y="48463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1"/>
          <p:cNvSpPr/>
          <p:nvPr/>
        </p:nvSpPr>
        <p:spPr>
          <a:xfrm>
            <a:off x="457200" y="4901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CITYGPT ENABLEMENT PROGRAM   |   Rahul Gupta · Digital / IT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731520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15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 ·  WHAT IS CITYGPT?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4572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887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4ED8"/>
                </a:solidFill>
              </a:rPr>
              <a:t>CITYGPT  =  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self-hosted OpenWebUI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+  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department knowledge bases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+  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custom models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+  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prompt training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508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194560"/>
            <a:ext cx="594360" cy="59436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322576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8620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30906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question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112264" y="2697480"/>
            <a:ext cx="438912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3" name="Shape 10"/>
          <p:cNvSpPr/>
          <p:nvPr/>
        </p:nvSpPr>
        <p:spPr>
          <a:xfrm rot="5400000">
            <a:off x="2514600" y="2628900"/>
            <a:ext cx="146304" cy="18288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14" name="Shape 11"/>
          <p:cNvSpPr/>
          <p:nvPr/>
        </p:nvSpPr>
        <p:spPr>
          <a:xfrm>
            <a:off x="2697480" y="2011680"/>
            <a:ext cx="1508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54680" y="2194560"/>
            <a:ext cx="594360" cy="59436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268" y="2322576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788920" y="28620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OPENWEBUI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2788920" y="30906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352544" y="2697480"/>
            <a:ext cx="438912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0" name="Shape 16"/>
          <p:cNvSpPr/>
          <p:nvPr/>
        </p:nvSpPr>
        <p:spPr>
          <a:xfrm rot="5400000">
            <a:off x="4754880" y="2628900"/>
            <a:ext cx="146304" cy="18288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21" name="Shape 17"/>
          <p:cNvSpPr/>
          <p:nvPr/>
        </p:nvSpPr>
        <p:spPr>
          <a:xfrm>
            <a:off x="4937760" y="2011680"/>
            <a:ext cx="1508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394960" y="2194560"/>
            <a:ext cx="594360" cy="59436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7548" y="2322576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029200" y="28620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MODELS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5029200" y="30906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Per-dept routing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6592824" y="2697480"/>
            <a:ext cx="438912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7" name="Shape 22"/>
          <p:cNvSpPr/>
          <p:nvPr/>
        </p:nvSpPr>
        <p:spPr>
          <a:xfrm rot="5400000">
            <a:off x="6995160" y="2628900"/>
            <a:ext cx="146304" cy="18288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28" name="Shape 23"/>
          <p:cNvSpPr/>
          <p:nvPr/>
        </p:nvSpPr>
        <p:spPr>
          <a:xfrm>
            <a:off x="7178040" y="2011680"/>
            <a:ext cx="1508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635240" y="2194560"/>
            <a:ext cx="594360" cy="59436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7828" y="2322576"/>
            <a:ext cx="329184" cy="32918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269480" y="28620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BASES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7269480" y="30906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457200" y="3657600"/>
            <a:ext cx="259080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22192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87552" y="3794760"/>
            <a:ext cx="195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640080" y="4114800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on-prem / self-hosted — no data leaves City Holdings infra.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3276600" y="3657600"/>
            <a:ext cx="259080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9480" y="3822192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3806952" y="3794760"/>
            <a:ext cx="195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BY DEPT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3459480" y="4114800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gets its own curated KB + tuned model + system prompt.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6096000" y="3657600"/>
            <a:ext cx="259080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8880" y="3822192"/>
            <a:ext cx="274320" cy="27432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6626352" y="3794760"/>
            <a:ext cx="195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</a:t>
            </a:r>
            <a:endParaRPr lang="en-US" sz="1000" dirty="0"/>
          </a:p>
        </p:txBody>
      </p:sp>
      <p:sp>
        <p:nvSpPr>
          <p:cNvPr id="44" name="Text 35"/>
          <p:cNvSpPr/>
          <p:nvPr/>
        </p:nvSpPr>
        <p:spPr>
          <a:xfrm>
            <a:off x="6278880" y="4114800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the tooling with a training curriculum that creates power users.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457200" y="48463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37"/>
          <p:cNvSpPr/>
          <p:nvPr/>
        </p:nvSpPr>
        <p:spPr>
          <a:xfrm>
            <a:off x="457200" y="4901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CITYGPT ENABLEMENT PROGRAM   |   Rahul Gupta · Digital / IT</a:t>
            </a:r>
            <a:endParaRPr lang="en-US" sz="800" dirty="0"/>
          </a:p>
        </p:txBody>
      </p:sp>
      <p:sp>
        <p:nvSpPr>
          <p:cNvPr id="47" name="Text 38"/>
          <p:cNvSpPr/>
          <p:nvPr/>
        </p:nvSpPr>
        <p:spPr>
          <a:xfrm>
            <a:off x="731520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 ·  STEP-BY-STEP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Run the Program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1887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</a:rPr>
              <a:t>AI TOOL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CityGPT on OpenWebUI — custom department models + curated knowledge bases + RAG retrieval + structured prompt library.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933956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88236" y="1965960"/>
            <a:ext cx="384048" cy="384048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188823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29968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2423160"/>
            <a:ext cx="15681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BUILD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2633472"/>
            <a:ext cx="15681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2907792"/>
            <a:ext cx="15681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Per-dept doc collections: HR policy, IT runbooks, Ops SOPs, vendor manuals — chunked, embedded, indexed.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555748" y="1828800"/>
            <a:ext cx="1933956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986784" y="1965960"/>
            <a:ext cx="384048" cy="384048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16" name="Text 13"/>
          <p:cNvSpPr/>
          <p:nvPr/>
        </p:nvSpPr>
        <p:spPr>
          <a:xfrm>
            <a:off x="3986784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628" y="2029968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738628" y="2423160"/>
            <a:ext cx="15681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CONFIGURE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2738628" y="2633472"/>
            <a:ext cx="15681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Models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738628" y="2907792"/>
            <a:ext cx="15681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Per-use-case OpenWebUI models — tuned system prompts, retrieval settings, citation rules, guardrails.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654296" y="1828800"/>
            <a:ext cx="1933956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85332" y="1965960"/>
            <a:ext cx="384048" cy="384048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23" name="Text 19"/>
          <p:cNvSpPr/>
          <p:nvPr/>
        </p:nvSpPr>
        <p:spPr>
          <a:xfrm>
            <a:off x="6085332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176" y="2029968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837176" y="2423160"/>
            <a:ext cx="15681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TRAIN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837176" y="2633472"/>
            <a:ext cx="15681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Workshops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4837176" y="2907792"/>
            <a:ext cx="15681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2-hour live sessions teaching prompt patterns, knowledge tagging, verification, citation habits.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752844" y="1828800"/>
            <a:ext cx="1933956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8183880" y="1965960"/>
            <a:ext cx="384048" cy="384048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30" name="Text 25"/>
          <p:cNvSpPr/>
          <p:nvPr/>
        </p:nvSpPr>
        <p:spPr>
          <a:xfrm>
            <a:off x="818388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5724" y="2029968"/>
            <a:ext cx="347472" cy="34747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935724" y="2423160"/>
            <a:ext cx="15681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SCALE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6935724" y="2633472"/>
            <a:ext cx="15681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Users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6935724" y="2907792"/>
            <a:ext cx="15681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1 trained champion per team to coach colleagues and surface new knowledge gaps.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457200" y="3566160"/>
            <a:ext cx="82296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30752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60120" y="3730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TRANSFORMATION — POLICY LOOKUP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1371600" y="4069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3200" dirty="0"/>
          </a:p>
        </p:txBody>
      </p:sp>
      <p:sp>
        <p:nvSpPr>
          <p:cNvPr id="39" name="Text 32"/>
          <p:cNvSpPr/>
          <p:nvPr/>
        </p:nvSpPr>
        <p:spPr>
          <a:xfrm>
            <a:off x="1371600" y="45537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lookup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3657600" y="4206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41" name="Text 34"/>
          <p:cNvSpPr/>
          <p:nvPr/>
        </p:nvSpPr>
        <p:spPr>
          <a:xfrm>
            <a:off x="4526280" y="4069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</a:t>
            </a:r>
            <a:endParaRPr lang="en-US" sz="3200" dirty="0"/>
          </a:p>
        </p:txBody>
      </p:sp>
      <p:sp>
        <p:nvSpPr>
          <p:cNvPr id="42" name="Text 35"/>
          <p:cNvSpPr/>
          <p:nvPr/>
        </p:nvSpPr>
        <p:spPr>
          <a:xfrm>
            <a:off x="4526280" y="45537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CityGPT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6858000" y="4114800"/>
            <a:ext cx="1554480" cy="54864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44" name="Text 37"/>
          <p:cNvSpPr/>
          <p:nvPr/>
        </p:nvSpPr>
        <p:spPr>
          <a:xfrm>
            <a:off x="6858000" y="4114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↓</a:t>
            </a:r>
            <a:endParaRPr lang="en-US" sz="2200" dirty="0"/>
          </a:p>
        </p:txBody>
      </p:sp>
      <p:sp>
        <p:nvSpPr>
          <p:cNvPr id="45" name="Shape 38"/>
          <p:cNvSpPr/>
          <p:nvPr/>
        </p:nvSpPr>
        <p:spPr>
          <a:xfrm>
            <a:off x="457200" y="48463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39"/>
          <p:cNvSpPr/>
          <p:nvPr/>
        </p:nvSpPr>
        <p:spPr>
          <a:xfrm>
            <a:off x="457200" y="4901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CITYGPT ENABLEMENT PROGRAM   |   Rahul Gupta · Digital / IT</a:t>
            </a:r>
            <a:endParaRPr lang="en-US" sz="800" dirty="0"/>
          </a:p>
        </p:txBody>
      </p:sp>
      <p:sp>
        <p:nvSpPr>
          <p:cNvPr id="47" name="Text 40"/>
          <p:cNvSpPr/>
          <p:nvPr/>
        </p:nvSpPr>
        <p:spPr>
          <a:xfrm>
            <a:off x="731520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 ·  HOW DOCS BECOME AI KNOWLEDGE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57276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1572768" cy="457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8988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66420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121408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2359152"/>
            <a:ext cx="1389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DOCX, SharePoint, Drive exports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121408" y="1280160"/>
            <a:ext cx="157276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121408" y="1280160"/>
            <a:ext cx="1572768" cy="457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2" name="Text 9"/>
          <p:cNvSpPr/>
          <p:nvPr/>
        </p:nvSpPr>
        <p:spPr>
          <a:xfrm>
            <a:off x="2258568" y="138988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166420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212848" y="2121408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212848" y="2359152"/>
            <a:ext cx="1389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split, 400-800 token windows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3785616" y="1280160"/>
            <a:ext cx="157276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785616" y="1280160"/>
            <a:ext cx="1572768" cy="457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8" name="Text 14"/>
          <p:cNvSpPr/>
          <p:nvPr/>
        </p:nvSpPr>
        <p:spPr>
          <a:xfrm>
            <a:off x="3922776" y="138988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1664208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877056" y="2121408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877056" y="2359152"/>
            <a:ext cx="1389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embeddings, 1536-dim, OpenAI-compat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5449824" y="1280160"/>
            <a:ext cx="157276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449824" y="1280160"/>
            <a:ext cx="1572768" cy="457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4" name="Text 19"/>
          <p:cNvSpPr/>
          <p:nvPr/>
        </p:nvSpPr>
        <p:spPr>
          <a:xfrm>
            <a:off x="5586984" y="138988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4" y="1664208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41264" y="2121408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541264" y="2359152"/>
            <a:ext cx="1389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HNSW, BM25 hybrid retrieval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7114032" y="1280160"/>
            <a:ext cx="157276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114032" y="1280160"/>
            <a:ext cx="1572768" cy="457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0" name="Text 24"/>
          <p:cNvSpPr/>
          <p:nvPr/>
        </p:nvSpPr>
        <p:spPr>
          <a:xfrm>
            <a:off x="7251192" y="138988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2" y="1664208"/>
            <a:ext cx="384048" cy="38404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205472" y="2121408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7205472" y="2359152"/>
            <a:ext cx="1389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+ reranker, citation-aware response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457200" y="3017520"/>
            <a:ext cx="25908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246120"/>
            <a:ext cx="320040" cy="32004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85800" y="3657600"/>
            <a:ext cx="213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1,200+</a:t>
            </a:r>
            <a:endParaRPr lang="en-US" sz="3200" dirty="0"/>
          </a:p>
        </p:txBody>
      </p:sp>
      <p:sp>
        <p:nvSpPr>
          <p:cNvPr id="37" name="Text 29"/>
          <p:cNvSpPr/>
          <p:nvPr/>
        </p:nvSpPr>
        <p:spPr>
          <a:xfrm>
            <a:off x="685800" y="4133088"/>
            <a:ext cx="213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indexed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685800" y="4370832"/>
            <a:ext cx="213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· IT · Ops · Finance · Legal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3276600" y="3017520"/>
            <a:ext cx="25908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5200" y="3246120"/>
            <a:ext cx="320040" cy="32004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3505200" y="3657600"/>
            <a:ext cx="213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~52K</a:t>
            </a:r>
            <a:endParaRPr lang="en-US" sz="3200" dirty="0"/>
          </a:p>
        </p:txBody>
      </p:sp>
      <p:sp>
        <p:nvSpPr>
          <p:cNvPr id="42" name="Text 33"/>
          <p:cNvSpPr/>
          <p:nvPr/>
        </p:nvSpPr>
        <p:spPr>
          <a:xfrm>
            <a:off x="3505200" y="4133088"/>
            <a:ext cx="213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chunks</a:t>
            </a:r>
            <a:endParaRPr lang="en-US" sz="1200" dirty="0"/>
          </a:p>
        </p:txBody>
      </p:sp>
      <p:sp>
        <p:nvSpPr>
          <p:cNvPr id="43" name="Text 34"/>
          <p:cNvSpPr/>
          <p:nvPr/>
        </p:nvSpPr>
        <p:spPr>
          <a:xfrm>
            <a:off x="3505200" y="4370832"/>
            <a:ext cx="213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400-800 tokens, paragraph-aware</a:t>
            </a:r>
            <a:endParaRPr lang="en-US" sz="900" dirty="0"/>
          </a:p>
        </p:txBody>
      </p:sp>
      <p:sp>
        <p:nvSpPr>
          <p:cNvPr id="44" name="Shape 35"/>
          <p:cNvSpPr/>
          <p:nvPr/>
        </p:nvSpPr>
        <p:spPr>
          <a:xfrm>
            <a:off x="6096000" y="3017520"/>
            <a:ext cx="25908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3246120"/>
            <a:ext cx="320040" cy="32004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6324600" y="3657600"/>
            <a:ext cx="213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47" name="Text 37"/>
          <p:cNvSpPr/>
          <p:nvPr/>
        </p:nvSpPr>
        <p:spPr>
          <a:xfrm>
            <a:off x="6324600" y="4133088"/>
            <a:ext cx="213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knowledge bases</a:t>
            </a:r>
            <a:endParaRPr lang="en-US" sz="1200" dirty="0"/>
          </a:p>
        </p:txBody>
      </p:sp>
      <p:sp>
        <p:nvSpPr>
          <p:cNvPr id="48" name="Text 38"/>
          <p:cNvSpPr/>
          <p:nvPr/>
        </p:nvSpPr>
        <p:spPr>
          <a:xfrm>
            <a:off x="6324600" y="4370832"/>
            <a:ext cx="213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 major function</a:t>
            </a:r>
            <a:endParaRPr lang="en-US" sz="900" dirty="0"/>
          </a:p>
        </p:txBody>
      </p:sp>
      <p:sp>
        <p:nvSpPr>
          <p:cNvPr id="49" name="Shape 39"/>
          <p:cNvSpPr/>
          <p:nvPr/>
        </p:nvSpPr>
        <p:spPr>
          <a:xfrm>
            <a:off x="457200" y="48463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0"/>
          <p:cNvSpPr/>
          <p:nvPr/>
        </p:nvSpPr>
        <p:spPr>
          <a:xfrm>
            <a:off x="457200" y="4901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CITYGPT ENABLEMENT PROGRAM   |   Rahul Gupta · Digital / IT</a:t>
            </a:r>
            <a:endParaRPr lang="en-US" sz="800" dirty="0"/>
          </a:p>
        </p:txBody>
      </p:sp>
      <p:sp>
        <p:nvSpPr>
          <p:cNvPr id="51" name="Text 41"/>
          <p:cNvSpPr/>
          <p:nvPr/>
        </p:nvSpPr>
        <p:spPr>
          <a:xfrm>
            <a:off x="731520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15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 ·  PER-DEPT MODELS + PROMPT LIBRARY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349240" cy="3520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35331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CUSTOM MODELS DEPLOYED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2354580" cy="65151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37360"/>
            <a:ext cx="73152" cy="65151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916811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847088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Policy Bot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34440" y="2103120"/>
            <a:ext cx="1714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Leave, payroll, onboarding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23260" y="1737360"/>
            <a:ext cx="2354580" cy="65151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23260" y="1737360"/>
            <a:ext cx="73152" cy="651510"/>
          </a:xfrm>
          <a:prstGeom prst="rect">
            <a:avLst/>
          </a:prstGeom>
          <a:solidFill>
            <a:srgbClr val="1D4ED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428" y="1916811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71900" y="1847088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Runbook Bot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771900" y="2103120"/>
            <a:ext cx="1714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response, infra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85800" y="2480310"/>
            <a:ext cx="2354580" cy="65151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5800" y="2480310"/>
            <a:ext cx="73152" cy="65151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659761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4440" y="2590038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SOP Bot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234440" y="2846070"/>
            <a:ext cx="1714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playbooks, workflows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3223260" y="2480310"/>
            <a:ext cx="2354580" cy="65151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223260" y="2480310"/>
            <a:ext cx="73152" cy="651510"/>
          </a:xfrm>
          <a:prstGeom prst="rect">
            <a:avLst/>
          </a:prstGeom>
          <a:solidFill>
            <a:srgbClr val="6D28D9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4428" y="2659761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771900" y="2590038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Helper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3771900" y="2846070"/>
            <a:ext cx="1714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Expense, approval refs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685800" y="3223260"/>
            <a:ext cx="2354580" cy="65151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85800" y="3223260"/>
            <a:ext cx="73152" cy="651510"/>
          </a:xfrm>
          <a:prstGeom prst="rect">
            <a:avLst/>
          </a:prstGeom>
          <a:solidFill>
            <a:srgbClr val="BE123C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3402711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34440" y="3332988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Compliance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234440" y="3589020"/>
            <a:ext cx="1714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Q&amp;A, policies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3223260" y="3223260"/>
            <a:ext cx="2354580" cy="65151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3223260" y="3223260"/>
            <a:ext cx="73152" cy="65151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4428" y="3402711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771900" y="3332988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Bot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3771900" y="3589020"/>
            <a:ext cx="1714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JDs, candidate workflow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685800" y="3966210"/>
            <a:ext cx="2354580" cy="65151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85800" y="3966210"/>
            <a:ext cx="73152" cy="65151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4145661"/>
            <a:ext cx="292608" cy="29260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234440" y="4075938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Helper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1234440" y="4331970"/>
            <a:ext cx="1714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Campaigns, brand voice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3223260" y="3966210"/>
            <a:ext cx="2354580" cy="65151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3223260" y="3966210"/>
            <a:ext cx="73152" cy="651510"/>
          </a:xfrm>
          <a:prstGeom prst="rect">
            <a:avLst/>
          </a:prstGeom>
          <a:solidFill>
            <a:srgbClr val="1D4ED8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4428" y="4145661"/>
            <a:ext cx="292608" cy="29260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3771900" y="4075938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Bot</a:t>
            </a:r>
            <a:endParaRPr lang="en-US" sz="1200" dirty="0"/>
          </a:p>
        </p:txBody>
      </p:sp>
      <p:sp>
        <p:nvSpPr>
          <p:cNvPr id="45" name="Text 35"/>
          <p:cNvSpPr/>
          <p:nvPr/>
        </p:nvSpPr>
        <p:spPr>
          <a:xfrm>
            <a:off x="3771900" y="4331970"/>
            <a:ext cx="1714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mgmt, RFx workflows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5943600" y="1188720"/>
            <a:ext cx="274320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47" name="Text 37"/>
          <p:cNvSpPr/>
          <p:nvPr/>
        </p:nvSpPr>
        <p:spPr>
          <a:xfrm>
            <a:off x="6172200" y="1353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HAS</a:t>
            </a:r>
            <a:endParaRPr lang="en-US" sz="1000" dirty="0"/>
          </a:p>
        </p:txBody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1783080"/>
            <a:ext cx="237744" cy="237744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6510528" y="173736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system prompt</a:t>
            </a:r>
            <a:endParaRPr lang="en-US" sz="1100" dirty="0"/>
          </a:p>
        </p:txBody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2240280"/>
            <a:ext cx="237744" cy="237744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6510528" y="219456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knowledge base</a:t>
            </a:r>
            <a:endParaRPr lang="en-US" sz="1100" dirty="0"/>
          </a:p>
        </p:txBody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2200" y="2697480"/>
            <a:ext cx="237744" cy="237744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6510528" y="265176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rules</a:t>
            </a:r>
            <a:endParaRPr lang="en-US" sz="1100" dirty="0"/>
          </a:p>
        </p:txBody>
      </p:sp>
      <p:pic>
        <p:nvPicPr>
          <p:cNvPr id="5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72200" y="3154680"/>
            <a:ext cx="237744" cy="237744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6510528" y="310896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+ top-K</a:t>
            </a:r>
            <a:endParaRPr lang="en-US" sz="1100" dirty="0"/>
          </a:p>
        </p:txBody>
      </p:sp>
      <p:pic>
        <p:nvPicPr>
          <p:cNvPr id="5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2200" y="3611880"/>
            <a:ext cx="237744" cy="237744"/>
          </a:xfrm>
          <a:prstGeom prst="rect">
            <a:avLst/>
          </a:prstGeom>
        </p:spPr>
      </p:pic>
      <p:sp>
        <p:nvSpPr>
          <p:cNvPr id="57" name="Text 42"/>
          <p:cNvSpPr/>
          <p:nvPr/>
        </p:nvSpPr>
        <p:spPr>
          <a:xfrm>
            <a:off x="6510528" y="356616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guardrails</a:t>
            </a:r>
            <a:endParaRPr lang="en-US" sz="1100" dirty="0"/>
          </a:p>
        </p:txBody>
      </p:sp>
      <p:pic>
        <p:nvPicPr>
          <p:cNvPr id="5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72200" y="4069080"/>
            <a:ext cx="237744" cy="237744"/>
          </a:xfrm>
          <a:prstGeom prst="rect">
            <a:avLst/>
          </a:prstGeom>
        </p:spPr>
      </p:pic>
      <p:sp>
        <p:nvSpPr>
          <p:cNvPr id="59" name="Text 43"/>
          <p:cNvSpPr/>
          <p:nvPr/>
        </p:nvSpPr>
        <p:spPr>
          <a:xfrm>
            <a:off x="6510528" y="402336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starter prompts</a:t>
            </a:r>
            <a:endParaRPr lang="en-US" sz="1100" dirty="0"/>
          </a:p>
        </p:txBody>
      </p:sp>
      <p:sp>
        <p:nvSpPr>
          <p:cNvPr id="60" name="Shape 44"/>
          <p:cNvSpPr/>
          <p:nvPr/>
        </p:nvSpPr>
        <p:spPr>
          <a:xfrm>
            <a:off x="457200" y="48463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1" name="Text 45"/>
          <p:cNvSpPr/>
          <p:nvPr/>
        </p:nvSpPr>
        <p:spPr>
          <a:xfrm>
            <a:off x="457200" y="4901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CITYGPT ENABLEMENT PROGRAM   |   Rahul Gupta · Digital / IT</a:t>
            </a:r>
            <a:endParaRPr lang="en-US" sz="800" dirty="0"/>
          </a:p>
        </p:txBody>
      </p:sp>
      <p:sp>
        <p:nvSpPr>
          <p:cNvPr id="62" name="Text 46"/>
          <p:cNvSpPr/>
          <p:nvPr/>
        </p:nvSpPr>
        <p:spPr>
          <a:xfrm>
            <a:off x="731520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 ·  CURRICULUM + CERTIFICATION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908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590800" cy="54864"/>
          </a:xfrm>
          <a:prstGeom prst="rect">
            <a:avLst/>
          </a:prstGeom>
          <a:solidFill>
            <a:srgbClr val="6D28D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533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325880"/>
            <a:ext cx="185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1560" y="1536192"/>
            <a:ext cx="185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EMPLOYEES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800" y="1783080"/>
            <a:ext cx="213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2-hr workshop: prompt patterns, KB usage, citation habits, when to verify.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76600" y="1188720"/>
            <a:ext cx="25908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76600" y="1188720"/>
            <a:ext cx="2590800" cy="54864"/>
          </a:xfrm>
          <a:prstGeom prst="rect">
            <a:avLst/>
          </a:prstGeom>
          <a:solidFill>
            <a:srgbClr val="6D28D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135331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70960" y="1325880"/>
            <a:ext cx="185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USER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870960" y="1536192"/>
            <a:ext cx="185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CHAMPIONS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505200" y="1783080"/>
            <a:ext cx="213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4-hr hands-on: build prompts, tag knowledge, coach teammates, escalate issues.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96000" y="1188720"/>
            <a:ext cx="25908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96000" y="1188720"/>
            <a:ext cx="2590800" cy="54864"/>
          </a:xfrm>
          <a:prstGeom prst="rect">
            <a:avLst/>
          </a:prstGeom>
          <a:solidFill>
            <a:srgbClr val="6D28D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35331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90360" y="1325880"/>
            <a:ext cx="185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TRACK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690360" y="1536192"/>
            <a:ext cx="185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OWNERS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324600" y="1783080"/>
            <a:ext cx="213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Half-day: curate sources, manage embeddings, run audits, retire stale docs.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57200" y="2697480"/>
            <a:ext cx="512064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88036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0120" y="28620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MODULES (2-HR LIVE)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3310128"/>
            <a:ext cx="274320" cy="274320"/>
          </a:xfrm>
          <a:prstGeom prst="ellipse">
            <a:avLst/>
          </a:prstGeom>
          <a:solidFill>
            <a:srgbClr val="FEF3C7"/>
          </a:solidFill>
          <a:ln/>
        </p:spPr>
      </p:sp>
      <p:sp>
        <p:nvSpPr>
          <p:cNvPr id="26" name="Text 20"/>
          <p:cNvSpPr/>
          <p:nvPr/>
        </p:nvSpPr>
        <p:spPr>
          <a:xfrm>
            <a:off x="64008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1005840" y="32644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Patterns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2468880" y="32644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· Context · Task · Format · Constraints (5-element template)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640080" y="3675888"/>
            <a:ext cx="274320" cy="274320"/>
          </a:xfrm>
          <a:prstGeom prst="ellipse">
            <a:avLst/>
          </a:prstGeom>
          <a:solidFill>
            <a:srgbClr val="FEF3C7"/>
          </a:solidFill>
          <a:ln/>
        </p:spPr>
      </p:sp>
      <p:sp>
        <p:nvSpPr>
          <p:cNvPr id="30" name="Text 24"/>
          <p:cNvSpPr/>
          <p:nvPr/>
        </p:nvSpPr>
        <p:spPr>
          <a:xfrm>
            <a:off x="640080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1005840" y="363016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Tagging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2468880" y="36301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mark trustworthy answers + flag stale sources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40080" y="4041648"/>
            <a:ext cx="274320" cy="274320"/>
          </a:xfrm>
          <a:prstGeom prst="ellipse">
            <a:avLst/>
          </a:prstGeom>
          <a:solidFill>
            <a:srgbClr val="FEF3C7"/>
          </a:solidFill>
          <a:ln/>
        </p:spPr>
      </p:sp>
      <p:sp>
        <p:nvSpPr>
          <p:cNvPr id="34" name="Text 28"/>
          <p:cNvSpPr/>
          <p:nvPr/>
        </p:nvSpPr>
        <p:spPr>
          <a:xfrm>
            <a:off x="640080" y="4041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1005840" y="399592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Cite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2468880" y="39959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citation, click through, never paste raw without check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40080" y="4407408"/>
            <a:ext cx="274320" cy="274320"/>
          </a:xfrm>
          <a:prstGeom prst="ellipse">
            <a:avLst/>
          </a:prstGeom>
          <a:solidFill>
            <a:srgbClr val="FEF3C7"/>
          </a:solidFill>
          <a:ln/>
        </p:spPr>
      </p:sp>
      <p:sp>
        <p:nvSpPr>
          <p:cNvPr id="38" name="Text 32"/>
          <p:cNvSpPr/>
          <p:nvPr/>
        </p:nvSpPr>
        <p:spPr>
          <a:xfrm>
            <a:off x="640080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1005840" y="43616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2468880" y="43616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attendee runs 5 real prompts in their own dept's model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5852160" y="2697480"/>
            <a:ext cx="283464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2880360"/>
            <a:ext cx="274320" cy="27432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6355080" y="2862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6035040" y="32461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2/10</a:t>
            </a:r>
            <a:endParaRPr lang="en-US" sz="1600" dirty="0"/>
          </a:p>
        </p:txBody>
      </p:sp>
      <p:sp>
        <p:nvSpPr>
          <p:cNvPr id="45" name="Text 38"/>
          <p:cNvSpPr/>
          <p:nvPr/>
        </p:nvSpPr>
        <p:spPr>
          <a:xfrm>
            <a:off x="6995160" y="32461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pre-training prompt quality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6035040" y="361188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1600" dirty="0"/>
          </a:p>
        </p:txBody>
      </p:sp>
      <p:sp>
        <p:nvSpPr>
          <p:cNvPr id="47" name="Text 40"/>
          <p:cNvSpPr/>
          <p:nvPr/>
        </p:nvSpPr>
        <p:spPr>
          <a:xfrm>
            <a:off x="6995160" y="36118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post-training quality (+4×)</a:t>
            </a:r>
            <a:endParaRPr lang="en-US" sz="900" dirty="0"/>
          </a:p>
        </p:txBody>
      </p:sp>
      <p:sp>
        <p:nvSpPr>
          <p:cNvPr id="48" name="Text 41"/>
          <p:cNvSpPr/>
          <p:nvPr/>
        </p:nvSpPr>
        <p:spPr>
          <a:xfrm>
            <a:off x="6035040" y="397764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1600" dirty="0"/>
          </a:p>
        </p:txBody>
      </p:sp>
      <p:sp>
        <p:nvSpPr>
          <p:cNvPr id="49" name="Text 42"/>
          <p:cNvSpPr/>
          <p:nvPr/>
        </p:nvSpPr>
        <p:spPr>
          <a:xfrm>
            <a:off x="6995160" y="397764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certified</a:t>
            </a:r>
            <a:endParaRPr lang="en-US" sz="900" dirty="0"/>
          </a:p>
        </p:txBody>
      </p:sp>
      <p:sp>
        <p:nvSpPr>
          <p:cNvPr id="50" name="Text 43"/>
          <p:cNvSpPr/>
          <p:nvPr/>
        </p:nvSpPr>
        <p:spPr>
          <a:xfrm>
            <a:off x="6035040" y="434340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51" name="Text 44"/>
          <p:cNvSpPr/>
          <p:nvPr/>
        </p:nvSpPr>
        <p:spPr>
          <a:xfrm>
            <a:off x="6995160" y="434340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Users certified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457200" y="48463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Text 46"/>
          <p:cNvSpPr/>
          <p:nvPr/>
        </p:nvSpPr>
        <p:spPr>
          <a:xfrm>
            <a:off x="457200" y="4901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CITYGPT ENABLEMENT PROGRAM   |   Rahul Gupta · Digital / IT</a:t>
            </a:r>
            <a:endParaRPr lang="en-US" sz="800" dirty="0"/>
          </a:p>
        </p:txBody>
      </p:sp>
      <p:sp>
        <p:nvSpPr>
          <p:cNvPr id="54" name="Text 47"/>
          <p:cNvSpPr/>
          <p:nvPr/>
        </p:nvSpPr>
        <p:spPr>
          <a:xfrm>
            <a:off x="731520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 ·  REAL SCENARIO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Journey: Before vs After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887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</a:rPr>
              <a:t>SCENARIO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Yangon-based ops lead needs the tier-2 employee maternity leave policy — exactly how many paid days, eligibility, and required forms.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97764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3977640" cy="54864"/>
          </a:xfrm>
          <a:prstGeom prst="rect">
            <a:avLst/>
          </a:prstGeom>
          <a:solidFill>
            <a:srgbClr val="BE123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8424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CITYGPT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85800" y="2459736"/>
            <a:ext cx="146304" cy="146304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3865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920240" y="238658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HR with policy question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85800" y="2916936"/>
            <a:ext cx="146304" cy="146304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28437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920240" y="284378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partial reply — needs follow-up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85800" y="3374136"/>
            <a:ext cx="146304" cy="146304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33009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920240" y="330098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2 clarifying questions back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85800" y="3831336"/>
            <a:ext cx="146304" cy="146304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" y="37581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day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920240" y="375818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 arrives, partly outdated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40080" y="4069080"/>
            <a:ext cx="3611880" cy="3657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40690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E123C"/>
                </a:solidFill>
              </a:rPr>
              <a:t>TOTAL: 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~28 hrs cycle · ~45 min effort · stale info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709160" y="1783080"/>
            <a:ext cx="397764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09160" y="1783080"/>
            <a:ext cx="3977640" cy="54864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984248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21208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CITYGPT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937760" y="2459736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9" name="Text 25"/>
          <p:cNvSpPr/>
          <p:nvPr/>
        </p:nvSpPr>
        <p:spPr>
          <a:xfrm>
            <a:off x="5166360" y="238658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09:00:00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09360" y="23865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HR Policy Bot, paste prompt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937760" y="2916936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2" name="Text 28"/>
          <p:cNvSpPr/>
          <p:nvPr/>
        </p:nvSpPr>
        <p:spPr>
          <a:xfrm>
            <a:off x="5166360" y="284378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09:00:08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09360" y="28437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retrieves 3 cited policy sections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937760" y="3374136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5" name="Text 31"/>
          <p:cNvSpPr/>
          <p:nvPr/>
        </p:nvSpPr>
        <p:spPr>
          <a:xfrm>
            <a:off x="5166360" y="330098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09:00:25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309360" y="33009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answer + clickable citations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4937760" y="3831336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8" name="Text 34"/>
          <p:cNvSpPr/>
          <p:nvPr/>
        </p:nvSpPr>
        <p:spPr>
          <a:xfrm>
            <a:off x="5166360" y="375818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09:00:30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309360" y="37581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source, share answer with team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4892040" y="4069080"/>
            <a:ext cx="3611880" cy="3657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41" name="Text 37"/>
          <p:cNvSpPr/>
          <p:nvPr/>
        </p:nvSpPr>
        <p:spPr>
          <a:xfrm>
            <a:off x="5029200" y="40690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59669"/>
                </a:solidFill>
              </a:rPr>
              <a:t>TOTAL: 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~30 sec · cited answer · up-to-date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457200" y="48463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39"/>
          <p:cNvSpPr/>
          <p:nvPr/>
        </p:nvSpPr>
        <p:spPr>
          <a:xfrm>
            <a:off x="457200" y="4901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CITYGPT ENABLEMENT PROGRAM   |   Rahul Gupta · Digital / IT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731520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 ·  QUANTIFIED METRICS  ·  ★ MOST IMPORTANT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Efficiency Gains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212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2128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16736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719072"/>
            <a:ext cx="225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time reduction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83664"/>
            <a:ext cx="225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→ 30 sec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61360" y="1188720"/>
            <a:ext cx="26212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1360" y="1188720"/>
            <a:ext cx="26212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3444240" y="1316736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444240" y="1719072"/>
            <a:ext cx="225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active users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44240" y="1883664"/>
            <a:ext cx="225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 departments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65520" y="1188720"/>
            <a:ext cx="26212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65520" y="1188720"/>
            <a:ext cx="2621280" cy="5486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6248400" y="1316736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48400" y="1719072"/>
            <a:ext cx="225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bases live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48400" y="1883664"/>
            <a:ext cx="225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· IT · Ops · Finance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1463040"/>
                <a:gridCol w="21945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 / IMPROVEMENT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per policy lookup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sec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 reduction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AI users (org-wide)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5× increase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bases deployed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coverage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quality (pre / post)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/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 improvement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saved /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~440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MMK 4.4M saved / 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457200" y="4498848"/>
            <a:ext cx="8229600" cy="329184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0"/>
            <a:ext cx="182880" cy="1828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68680" y="4498848"/>
            <a:ext cx="7726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are realistic internal estimates from the pilot cohort — to be verified with audit logs before live finals.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57200" y="48463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0"/>
          <p:cNvSpPr/>
          <p:nvPr/>
        </p:nvSpPr>
        <p:spPr>
          <a:xfrm>
            <a:off x="457200" y="4901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CITYGPT ENABLEMENT PROGRAM   |   Rahul Gupta · Digital / IT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31520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 ·  USAGE OVER TIME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Curve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3492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188720"/>
            <a:ext cx="27432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371600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37960" y="1353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RESULTS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144768" y="1719072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weekly active users by W12 — exceeded the 50-user pilot target by +20%.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943600" y="2423160"/>
            <a:ext cx="27432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2606040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37960" y="2587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NPS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6144768" y="28803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+64</a:t>
            </a:r>
            <a:endParaRPr lang="en-US" sz="2800" dirty="0"/>
          </a:p>
        </p:txBody>
      </p:sp>
      <p:sp>
        <p:nvSpPr>
          <p:cNvPr id="13" name="Text 8"/>
          <p:cNvSpPr/>
          <p:nvPr/>
        </p:nvSpPr>
        <p:spPr>
          <a:xfrm>
            <a:off x="6858000" y="2880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50-user post-training survey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943600" y="3657600"/>
            <a:ext cx="27432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3840480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37960" y="3822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6144768" y="416052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weekly retention — users return within 7 days of first session.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57200" y="48463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3"/>
          <p:cNvSpPr/>
          <p:nvPr/>
        </p:nvSpPr>
        <p:spPr>
          <a:xfrm>
            <a:off x="457200" y="4901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CITYGPT ENABLEMENT PROGRAM   |   Rahul Gupta · Digital / IT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731520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 ·  WHAT MAKES THIS NOVEL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Highlights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005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08760"/>
            <a:ext cx="777240" cy="77724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3736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554480"/>
            <a:ext cx="2628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645920" y="1874520"/>
            <a:ext cx="26289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OpenWebUI keeps every prompt + document inside City Holdings infra. No vendor lock-in, no data exfiltration risk, full audit log.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86300" y="1188720"/>
            <a:ext cx="40005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60620" y="1508760"/>
            <a:ext cx="777240" cy="77724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220" y="173736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75020" y="1554480"/>
            <a:ext cx="2628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PER-DEPT MODELS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875020" y="1874520"/>
            <a:ext cx="26289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function gets its own tuned model + curated KB instead of a single generic chatbot. Higher accuracy, sharper guardrails, lower hallucination.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063240"/>
            <a:ext cx="40005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383280"/>
            <a:ext cx="777240" cy="7772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61188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429000"/>
            <a:ext cx="2628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TRAINING-FIRST DEPLOYMENT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645920" y="3749040"/>
            <a:ext cx="26289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invested as much in teaching prompting as in shipping the tech. Result: 4× prompt-quality jump and a 5× increase in active users.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86300" y="3063240"/>
            <a:ext cx="40005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60620" y="3383280"/>
            <a:ext cx="777240" cy="77724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9220" y="361188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75020" y="3429000"/>
            <a:ext cx="2628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 LOOP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875020" y="3749040"/>
            <a:ext cx="26289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button on every answer → low-quality flags → KB owners refresh sources → models re-prompted weekly. Quality compounds.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8463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19"/>
          <p:cNvSpPr/>
          <p:nvPr/>
        </p:nvSpPr>
        <p:spPr>
          <a:xfrm>
            <a:off x="457200" y="4901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CITYGPT ENABLEMENT PROGRAM   |   Rahul Gupta · Digital / IT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731520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 ·  WHERE ELSE  ·  90-DAY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8988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35331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THIS SCALE?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184708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21408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0848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NearMe Customer Support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95728"/>
            <a:ext cx="164592" cy="164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23591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 Van logistics &amp; ops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70048"/>
            <a:ext cx="164592" cy="16459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26334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PSL operations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944368"/>
            <a:ext cx="164592" cy="16459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60120" y="29077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HUB-HR (recruitment &amp; onboarding)</a:t>
            </a:r>
            <a:endParaRPr lang="en-US" sz="11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218688"/>
            <a:ext cx="164592" cy="16459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60120" y="31821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Legal compliance</a:t>
            </a:r>
            <a:endParaRPr lang="en-US" sz="1100" dirty="0"/>
          </a:p>
        </p:txBody>
      </p:sp>
      <p:sp>
        <p:nvSpPr>
          <p:cNvPr id="18" name="Text 10"/>
          <p:cNvSpPr/>
          <p:nvPr/>
        </p:nvSpPr>
        <p:spPr>
          <a:xfrm>
            <a:off x="685800" y="352044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900" dirty="0"/>
          </a:p>
        </p:txBody>
      </p:sp>
      <p:sp>
        <p:nvSpPr>
          <p:cNvPr id="19" name="Shape 11"/>
          <p:cNvSpPr/>
          <p:nvPr/>
        </p:nvSpPr>
        <p:spPr>
          <a:xfrm>
            <a:off x="749808" y="3840480"/>
            <a:ext cx="100584" cy="10058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Text 12"/>
          <p:cNvSpPr/>
          <p:nvPr/>
        </p:nvSpPr>
        <p:spPr>
          <a:xfrm>
            <a:off x="914400" y="37490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OpenWebUI infra &amp; GPU capacity (Q3 upgrade)</a:t>
            </a:r>
            <a:endParaRPr lang="en-US" sz="1000" dirty="0"/>
          </a:p>
        </p:txBody>
      </p:sp>
      <p:sp>
        <p:nvSpPr>
          <p:cNvPr id="21" name="Shape 13"/>
          <p:cNvSpPr/>
          <p:nvPr/>
        </p:nvSpPr>
        <p:spPr>
          <a:xfrm>
            <a:off x="749808" y="4096512"/>
            <a:ext cx="100584" cy="10058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14"/>
          <p:cNvSpPr/>
          <p:nvPr/>
        </p:nvSpPr>
        <p:spPr>
          <a:xfrm>
            <a:off x="914400" y="40050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owners to curate knowledge sources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749808" y="4352544"/>
            <a:ext cx="100584" cy="10058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4" name="Text 16"/>
          <p:cNvSpPr/>
          <p:nvPr/>
        </p:nvSpPr>
        <p:spPr>
          <a:xfrm>
            <a:off x="914400" y="4261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sponsorship + training time budget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4709160" y="1188720"/>
            <a:ext cx="397764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1389888"/>
            <a:ext cx="274320" cy="27432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303520" y="135331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ROADMAP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4983480" y="196596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9" name="Text 20"/>
          <p:cNvSpPr/>
          <p:nvPr/>
        </p:nvSpPr>
        <p:spPr>
          <a:xfrm>
            <a:off x="498348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Shape 21"/>
          <p:cNvSpPr/>
          <p:nvPr/>
        </p:nvSpPr>
        <p:spPr>
          <a:xfrm>
            <a:off x="5175504" y="2377440"/>
            <a:ext cx="27432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2"/>
          <p:cNvSpPr/>
          <p:nvPr/>
        </p:nvSpPr>
        <p:spPr>
          <a:xfrm>
            <a:off x="5532120" y="194767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5532120" y="213055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Power Users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5532120" y="238658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10 dept champions; certify on prompt patterns + knowledge tagging.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4983480" y="288036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5" name="Text 26"/>
          <p:cNvSpPr/>
          <p:nvPr/>
        </p:nvSpPr>
        <p:spPr>
          <a:xfrm>
            <a:off x="498348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Shape 27"/>
          <p:cNvSpPr/>
          <p:nvPr/>
        </p:nvSpPr>
        <p:spPr>
          <a:xfrm>
            <a:off x="5175504" y="3291840"/>
            <a:ext cx="27432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Text 28"/>
          <p:cNvSpPr/>
          <p:nvPr/>
        </p:nvSpPr>
        <p:spPr>
          <a:xfrm>
            <a:off x="5532120" y="286207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3–6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5532120" y="304495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Expansion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5532120" y="330098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to 50+ users across HR, IT, Ops; ship 5 new knowledge bases.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4983480" y="379476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1" name="Text 32"/>
          <p:cNvSpPr/>
          <p:nvPr/>
        </p:nvSpPr>
        <p:spPr>
          <a:xfrm>
            <a:off x="498348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33"/>
          <p:cNvSpPr/>
          <p:nvPr/>
        </p:nvSpPr>
        <p:spPr>
          <a:xfrm>
            <a:off x="5532120" y="377647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7–12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5532120" y="395935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&amp; Expand</a:t>
            </a:r>
            <a:endParaRPr lang="en-US" sz="1300" dirty="0"/>
          </a:p>
        </p:txBody>
      </p:sp>
      <p:sp>
        <p:nvSpPr>
          <p:cNvPr id="44" name="Text 35"/>
          <p:cNvSpPr/>
          <p:nvPr/>
        </p:nvSpPr>
        <p:spPr>
          <a:xfrm>
            <a:off x="5532120" y="421538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NPS lift + usage analytics; plan org-wide launch (target 500+ users).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457200" y="48463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37"/>
          <p:cNvSpPr/>
          <p:nvPr/>
        </p:nvSpPr>
        <p:spPr>
          <a:xfrm>
            <a:off x="457200" y="4901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CITYGPT ENABLEMENT PROGRAM   |   Rahul Gupta · Digital / IT</a:t>
            </a:r>
            <a:endParaRPr lang="en-US" sz="800" dirty="0"/>
          </a:p>
        </p:txBody>
      </p:sp>
      <p:sp>
        <p:nvSpPr>
          <p:cNvPr id="47" name="Text 38"/>
          <p:cNvSpPr/>
          <p:nvPr/>
        </p:nvSpPr>
        <p:spPr>
          <a:xfrm>
            <a:off x="731520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 ·  WHAT COULD GO WRONG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377440" y="1188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IMPACT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0" y="1188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0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8229600" cy="77724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9072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155448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answers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377440" y="15544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policy decisions, user trust loss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26280" y="1796796"/>
            <a:ext cx="777240" cy="292608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14" name="Text 11"/>
          <p:cNvSpPr/>
          <p:nvPr/>
        </p:nvSpPr>
        <p:spPr>
          <a:xfrm>
            <a:off x="4526280" y="179679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217920" y="1554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citation in every answer · users trained to click through · low-quality flag button · weekly review</a:t>
            </a:r>
            <a:endParaRPr lang="en-US" sz="1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96312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68680" y="23317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leakage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377440" y="23317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violations, audit findings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526280" y="2574036"/>
            <a:ext cx="777240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6"/>
          <p:cNvSpPr/>
          <p:nvPr/>
        </p:nvSpPr>
        <p:spPr>
          <a:xfrm>
            <a:off x="4526280" y="257403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217920" y="2331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(no external API) · RBAC per KB · audit log on every prompt · PII detection layer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57200" y="3108960"/>
            <a:ext cx="8229600" cy="77724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73552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68680" y="31089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adoption / falls back to email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2377440" y="31089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unrealized, no ROI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526280" y="3351276"/>
            <a:ext cx="777240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2"/>
          <p:cNvSpPr/>
          <p:nvPr/>
        </p:nvSpPr>
        <p:spPr>
          <a:xfrm>
            <a:off x="4526280" y="335127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6217920" y="3108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in every team · exec sponsorship · weekly NPS · gamified leaderboards · quick wins program</a:t>
            </a:r>
            <a:endParaRPr lang="en-US" sz="10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50792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68680" y="38862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drift / stale answers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2377440" y="38862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based on outdated policy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4526280" y="4128516"/>
            <a:ext cx="777240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27"/>
          <p:cNvSpPr/>
          <p:nvPr/>
        </p:nvSpPr>
        <p:spPr>
          <a:xfrm>
            <a:off x="4526280" y="412851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6217920" y="3886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KB owner per dept · monthly refresh cadence · auto-flag docs older than 6 mo · feedback loop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457200" y="48463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0"/>
          <p:cNvSpPr/>
          <p:nvPr/>
        </p:nvSpPr>
        <p:spPr>
          <a:xfrm>
            <a:off x="457200" y="4901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CITYGPT ENABLEMENT PROGRAM   |   Rahul Gupta · Digital / IT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731520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 ·  CLOSING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 scale CityGPT to every City Holdings team.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will turn this pilot into a company-wide program.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5908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94560"/>
            <a:ext cx="259080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Shape 6"/>
          <p:cNvSpPr/>
          <p:nvPr/>
        </p:nvSpPr>
        <p:spPr>
          <a:xfrm>
            <a:off x="1455420" y="2468880"/>
            <a:ext cx="594360" cy="59436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8008" y="2596896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127248"/>
            <a:ext cx="222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3401568"/>
            <a:ext cx="222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capacity for the OpenWebUI cluster — 2× A100 (or equivalent) to serve 500 concurrent users.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76600" y="2194560"/>
            <a:ext cx="25908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76600" y="2194560"/>
            <a:ext cx="25908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Shape 11"/>
          <p:cNvSpPr/>
          <p:nvPr/>
        </p:nvSpPr>
        <p:spPr>
          <a:xfrm>
            <a:off x="4274820" y="2468880"/>
            <a:ext cx="594360" cy="59436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2596896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59480" y="3127248"/>
            <a:ext cx="222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459480" y="3401568"/>
            <a:ext cx="222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executive sponsor per business unit to assign KB owners and unblock training time.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096000" y="2194560"/>
            <a:ext cx="25908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96000" y="2194560"/>
            <a:ext cx="25908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Shape 16"/>
          <p:cNvSpPr/>
          <p:nvPr/>
        </p:nvSpPr>
        <p:spPr>
          <a:xfrm>
            <a:off x="7094220" y="2468880"/>
            <a:ext cx="594360" cy="59436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808" y="2596896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78880" y="3127248"/>
            <a:ext cx="222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278880" y="3401568"/>
            <a:ext cx="222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nominated KB owner + 1 power user per dept (10 humans total) to curate docs and coach teams.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57200" y="4041648"/>
            <a:ext cx="8229600" cy="594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Text 20"/>
          <p:cNvSpPr/>
          <p:nvPr/>
        </p:nvSpPr>
        <p:spPr>
          <a:xfrm>
            <a:off x="685800" y="404164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</a:rPr>
              <a:t>WITH THESE,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we'll hit 500+ active users, MMK 50M+ annual value, and a measurable lift in decision quality within 12 months.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57200" y="48463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2"/>
          <p:cNvSpPr/>
          <p:nvPr/>
        </p:nvSpPr>
        <p:spPr>
          <a:xfrm>
            <a:off x="457200" y="4901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CITYGPT ENABLEMENT PROGRAM   |   Rahul Gupta · Digital / IT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731520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City Ventures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CityGPT Enablement Program — AI Champion Full Deck</dc:title>
  <dc:subject>PptxGenJS Presentation</dc:subject>
  <dc:creator>Rahul Gupta</dc:creator>
  <cp:lastModifiedBy>Rahul Gupta</cp:lastModifiedBy>
  <cp:revision>1</cp:revision>
  <dcterms:created xsi:type="dcterms:W3CDTF">2026-05-12T05:19:12Z</dcterms:created>
  <dcterms:modified xsi:type="dcterms:W3CDTF">2026-05-12T05:19:12Z</dcterms:modified>
</cp:coreProperties>
</file>