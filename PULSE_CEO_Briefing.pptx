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502920"/>
            <a:ext cx="3657600" cy="0"/>
          </a:xfrm>
          <a:prstGeom prst="line">
            <a:avLst/>
          </a:prstGeom>
          <a:noFill/>
          <a:ln w="15875">
            <a:solidFill>
              <a:srgbClr val="00B3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0" y="502920"/>
            <a:ext cx="137160" cy="-137160"/>
          </a:xfrm>
          <a:prstGeom prst="line">
            <a:avLst/>
          </a:prstGeom>
          <a:noFill/>
          <a:ln w="20320">
            <a:solidFill>
              <a:srgbClr val="00B3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89320" y="365760"/>
            <a:ext cx="137160" cy="320040"/>
          </a:xfrm>
          <a:prstGeom prst="line">
            <a:avLst/>
          </a:prstGeom>
          <a:noFill/>
          <a:ln w="20320">
            <a:solidFill>
              <a:srgbClr val="00B3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0" y="685800"/>
            <a:ext cx="137160" cy="-411480"/>
          </a:xfrm>
          <a:prstGeom prst="line">
            <a:avLst/>
          </a:prstGeom>
          <a:noFill/>
          <a:ln w="20320">
            <a:solidFill>
              <a:srgbClr val="00B34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63640" y="274320"/>
            <a:ext cx="137160" cy="228600"/>
          </a:xfrm>
          <a:prstGeom prst="line">
            <a:avLst/>
          </a:prstGeom>
          <a:noFill/>
          <a:ln w="20320">
            <a:solidFill>
              <a:srgbClr val="00B3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BRIEFING  ·  MAY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130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548640" cy="54864"/>
          </a:xfrm>
          <a:prstGeom prst="rect">
            <a:avLst/>
          </a:prstGeom>
          <a:solidFill>
            <a:srgbClr val="00B341"/>
          </a:solidFill>
          <a:ln w="12700">
            <a:solidFill>
              <a:srgbClr val="00B3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26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HR hiring + internal communication platform.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3520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0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pPr indent="0" marL="0">
              <a:buNone/>
            </a:pPr>
            <a:r>
              <a:rPr lang="en-US" sz="1400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eople  ·  </a:t>
            </a:r>
            <a:pPr indent="0" marL="0">
              <a:buNone/>
            </a:pPr>
            <a:r>
              <a:rPr lang="en-US" sz="1400" b="1" spc="150" kern="0" dirty="0">
                <a:solidFill>
                  <a:srgbClr val="00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pPr indent="0" marL="0">
              <a:buNone/>
            </a:pPr>
            <a:r>
              <a:rPr lang="en-US" sz="1400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pdates  ·  </a:t>
            </a:r>
            <a:pPr indent="0" marL="0">
              <a:buNone/>
            </a:pPr>
            <a:r>
              <a:rPr lang="en-US" sz="1400" b="1" spc="150" kern="0" dirty="0">
                <a:solidFill>
                  <a:srgbClr val="00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pPr indent="0" marL="0">
              <a:buNone/>
            </a:pPr>
            <a:r>
              <a:rPr lang="en-US" sz="1400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ifecycle  ·  </a:t>
            </a:r>
            <a:pPr indent="0" marL="0">
              <a:buNone/>
            </a:pPr>
            <a:r>
              <a:rPr lang="en-US" sz="1400" b="1" spc="150" kern="0" dirty="0">
                <a:solidFill>
                  <a:srgbClr val="00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indent="0" marL="0">
              <a:buNone/>
            </a:pPr>
            <a:r>
              <a:rPr lang="en-US" sz="1400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ourcing  ·  </a:t>
            </a:r>
            <a:pPr indent="0" marL="0">
              <a:buNone/>
            </a:pPr>
            <a:r>
              <a:rPr lang="en-US" sz="1400" b="1" spc="150" kern="0" dirty="0">
                <a:solidFill>
                  <a:srgbClr val="00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pPr indent="0" marL="0">
              <a:buNone/>
            </a:pPr>
            <a:r>
              <a:rPr lang="en-US" sz="1400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ngagement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Rahul Gupta  ·  Engineering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0624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00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 PHASE 1 SHIPPED  ·  PHASE 2 IN BUILD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7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 Entire employee lifecycle.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HR runs across 6+ disconnected tools. PULSE collapses hiring, internal comms, broadcasts, templates and an HR-knowledge chatbot into a single workspace — one source of truth for people data.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2240280"/>
            <a:ext cx="1591056" cy="2286000"/>
          </a:xfrm>
          <a:prstGeom prst="rect">
            <a:avLst/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2240280"/>
            <a:ext cx="1591056" cy="54864"/>
          </a:xfrm>
          <a:prstGeom prst="rect">
            <a:avLst/>
          </a:prstGeom>
          <a:solidFill>
            <a:srgbClr val="00B341"/>
          </a:solidFill>
          <a:ln w="12700">
            <a:solidFill>
              <a:srgbClr val="00B3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404872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75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955548" y="3108960"/>
            <a:ext cx="502920" cy="502920"/>
          </a:xfrm>
          <a:prstGeom prst="ellipse">
            <a:avLst/>
          </a:prstGeom>
          <a:solidFill>
            <a:srgbClr val="0A1F0E"/>
          </a:solidFill>
          <a:ln w="12700">
            <a:solidFill>
              <a:srgbClr val="0A1F0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3227832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3721608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3995928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CV + employee repository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093976" y="2240280"/>
            <a:ext cx="1591056" cy="2286000"/>
          </a:xfrm>
          <a:prstGeom prst="rect">
            <a:avLst/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093976" y="2240280"/>
            <a:ext cx="1591056" cy="54864"/>
          </a:xfrm>
          <a:prstGeom prst="rect">
            <a:avLst/>
          </a:prstGeom>
          <a:solidFill>
            <a:srgbClr val="00B341"/>
          </a:solidFill>
          <a:ln w="12700">
            <a:solidFill>
              <a:srgbClr val="00B34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93976" y="2404872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75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</a:t>
            </a:r>
            <a:endParaRPr lang="en-US" sz="4400" dirty="0"/>
          </a:p>
        </p:txBody>
      </p:sp>
      <p:sp>
        <p:nvSpPr>
          <p:cNvPr id="15" name="Shape 12"/>
          <p:cNvSpPr/>
          <p:nvPr/>
        </p:nvSpPr>
        <p:spPr>
          <a:xfrm>
            <a:off x="2638044" y="3108960"/>
            <a:ext cx="502920" cy="502920"/>
          </a:xfrm>
          <a:prstGeom prst="ellipse">
            <a:avLst/>
          </a:prstGeom>
          <a:solidFill>
            <a:srgbClr val="0A1F0E"/>
          </a:solidFill>
          <a:ln w="12700">
            <a:solidFill>
              <a:srgbClr val="0A1F0E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916" y="3227832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093976" y="3721608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2185416" y="3995928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Broadcasts, internal news, ads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776472" y="2240280"/>
            <a:ext cx="1591056" cy="2286000"/>
          </a:xfrm>
          <a:prstGeom prst="rect">
            <a:avLst/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776472" y="2240280"/>
            <a:ext cx="1591056" cy="54864"/>
          </a:xfrm>
          <a:prstGeom prst="rect">
            <a:avLst/>
          </a:prstGeom>
          <a:solidFill>
            <a:srgbClr val="00B341"/>
          </a:solidFill>
          <a:ln w="12700">
            <a:solidFill>
              <a:srgbClr val="00B341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776472" y="2404872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75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4400" dirty="0"/>
          </a:p>
        </p:txBody>
      </p:sp>
      <p:sp>
        <p:nvSpPr>
          <p:cNvPr id="22" name="Shape 18"/>
          <p:cNvSpPr/>
          <p:nvPr/>
        </p:nvSpPr>
        <p:spPr>
          <a:xfrm>
            <a:off x="4320540" y="3108960"/>
            <a:ext cx="502920" cy="502920"/>
          </a:xfrm>
          <a:prstGeom prst="ellipse">
            <a:avLst/>
          </a:prstGeom>
          <a:solidFill>
            <a:srgbClr val="0A1F0E"/>
          </a:solidFill>
          <a:ln w="12700">
            <a:solidFill>
              <a:srgbClr val="0A1F0E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9412" y="3227832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776472" y="3721608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3867912" y="3995928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→ hire → onboard → engage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458968" y="2240280"/>
            <a:ext cx="1591056" cy="2286000"/>
          </a:xfrm>
          <a:prstGeom prst="rect">
            <a:avLst/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458968" y="2240280"/>
            <a:ext cx="1591056" cy="54864"/>
          </a:xfrm>
          <a:prstGeom prst="rect">
            <a:avLst/>
          </a:prstGeom>
          <a:solidFill>
            <a:srgbClr val="00B341"/>
          </a:solidFill>
          <a:ln w="12700">
            <a:solidFill>
              <a:srgbClr val="00B341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458968" y="2404872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75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4400" dirty="0"/>
          </a:p>
        </p:txBody>
      </p:sp>
      <p:sp>
        <p:nvSpPr>
          <p:cNvPr id="29" name="Shape 24"/>
          <p:cNvSpPr/>
          <p:nvPr/>
        </p:nvSpPr>
        <p:spPr>
          <a:xfrm>
            <a:off x="6003036" y="3108960"/>
            <a:ext cx="502920" cy="502920"/>
          </a:xfrm>
          <a:prstGeom prst="ellipse">
            <a:avLst/>
          </a:prstGeom>
          <a:solidFill>
            <a:srgbClr val="0A1F0E"/>
          </a:solidFill>
          <a:ln w="12700">
            <a:solidFill>
              <a:srgbClr val="0A1F0E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908" y="3227832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458968" y="3721608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5550408" y="3995928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matching, JD repo, careers page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7141464" y="2240280"/>
            <a:ext cx="1591056" cy="2286000"/>
          </a:xfrm>
          <a:prstGeom prst="rect">
            <a:avLst/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7141464" y="2240280"/>
            <a:ext cx="1591056" cy="54864"/>
          </a:xfrm>
          <a:prstGeom prst="rect">
            <a:avLst/>
          </a:prstGeom>
          <a:solidFill>
            <a:srgbClr val="00B341"/>
          </a:solidFill>
          <a:ln w="12700">
            <a:solidFill>
              <a:srgbClr val="00B341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7141464" y="2404872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75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4400" dirty="0"/>
          </a:p>
        </p:txBody>
      </p:sp>
      <p:sp>
        <p:nvSpPr>
          <p:cNvPr id="36" name="Shape 30"/>
          <p:cNvSpPr/>
          <p:nvPr/>
        </p:nvSpPr>
        <p:spPr>
          <a:xfrm>
            <a:off x="7685532" y="3108960"/>
            <a:ext cx="502920" cy="502920"/>
          </a:xfrm>
          <a:prstGeom prst="ellipse">
            <a:avLst/>
          </a:prstGeom>
          <a:solidFill>
            <a:srgbClr val="0A1F0E"/>
          </a:solidFill>
          <a:ln w="12700">
            <a:solidFill>
              <a:srgbClr val="0A1F0E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4404" y="3227832"/>
            <a:ext cx="274320" cy="27432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7141464" y="3721608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7232904" y="3995928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Comms, surveys, HR brain chatbot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 ·  CEO BRIEFING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7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 ·  01  · 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lean. Two containers. One stack.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11,142 LOC backend  ·  13,400+ LOC frontend  ·  22 route modules  ·  165+ endpoints  ·  27 tests passing.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76072" y="2103120"/>
            <a:ext cx="1874520" cy="1325880"/>
          </a:xfrm>
          <a:prstGeom prst="rect">
            <a:avLst/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" y="2103120"/>
            <a:ext cx="1874520" cy="54864"/>
          </a:xfrm>
          <a:prstGeom prst="rect">
            <a:avLst/>
          </a:prstGeom>
          <a:solidFill>
            <a:srgbClr val="00B341"/>
          </a:solidFill>
          <a:ln w="12700">
            <a:solidFill>
              <a:srgbClr val="00B3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2286000"/>
            <a:ext cx="411480" cy="411480"/>
          </a:xfrm>
          <a:prstGeom prst="ellipse">
            <a:avLst/>
          </a:prstGeom>
          <a:solidFill>
            <a:srgbClr val="0A1F0E"/>
          </a:solidFill>
          <a:ln w="12700">
            <a:solidFill>
              <a:srgbClr val="0A1F0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37744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61872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8952" y="281635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SvelteKit 5 · Svelte Runes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4 · 12 routes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468880" y="2766060"/>
            <a:ext cx="128016" cy="0"/>
          </a:xfrm>
          <a:prstGeom prst="line">
            <a:avLst/>
          </a:prstGeom>
          <a:noFill/>
          <a:ln w="19050">
            <a:solidFill>
              <a:srgbClr val="00B341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615184" y="2103120"/>
            <a:ext cx="1874520" cy="1325880"/>
          </a:xfrm>
          <a:prstGeom prst="rect">
            <a:avLst/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15184" y="2103120"/>
            <a:ext cx="1874520" cy="54864"/>
          </a:xfrm>
          <a:prstGeom prst="rect">
            <a:avLst/>
          </a:prstGeom>
          <a:solidFill>
            <a:srgbClr val="00B341"/>
          </a:solidFill>
          <a:ln w="12700">
            <a:solidFill>
              <a:srgbClr val="00B34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98064" y="2286000"/>
            <a:ext cx="411480" cy="411480"/>
          </a:xfrm>
          <a:prstGeom prst="ellipse">
            <a:avLst/>
          </a:prstGeom>
          <a:solidFill>
            <a:srgbClr val="0A1F0E"/>
          </a:solidFill>
          <a:ln w="12700">
            <a:solidFill>
              <a:srgbClr val="0A1F0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504" y="2377440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00984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798064" y="281635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Python 3.11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165+ endpoints · JWT auth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507992" y="2766060"/>
            <a:ext cx="128016" cy="0"/>
          </a:xfrm>
          <a:prstGeom prst="line">
            <a:avLst/>
          </a:prstGeom>
          <a:noFill/>
          <a:ln w="19050">
            <a:solidFill>
              <a:srgbClr val="00B341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4654296" y="2103120"/>
            <a:ext cx="1874520" cy="1325880"/>
          </a:xfrm>
          <a:prstGeom prst="rect">
            <a:avLst/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654296" y="2103120"/>
            <a:ext cx="1874520" cy="54864"/>
          </a:xfrm>
          <a:prstGeom prst="rect">
            <a:avLst/>
          </a:prstGeom>
          <a:solidFill>
            <a:srgbClr val="00B341"/>
          </a:solidFill>
          <a:ln w="12700">
            <a:solidFill>
              <a:srgbClr val="00B341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837176" y="2286000"/>
            <a:ext cx="411480" cy="411480"/>
          </a:xfrm>
          <a:prstGeom prst="ellipse">
            <a:avLst/>
          </a:prstGeom>
          <a:solidFill>
            <a:srgbClr val="0A1F0E"/>
          </a:solidFill>
          <a:ln w="12700">
            <a:solidFill>
              <a:srgbClr val="0A1F0E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616" y="2377440"/>
            <a:ext cx="228600" cy="2286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340096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837176" y="281635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18 + PgVector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tables · pool 5–20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6547104" y="2766060"/>
            <a:ext cx="128016" cy="0"/>
          </a:xfrm>
          <a:prstGeom prst="line">
            <a:avLst/>
          </a:prstGeom>
          <a:noFill/>
          <a:ln w="19050">
            <a:solidFill>
              <a:srgbClr val="00B341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6693408" y="2103120"/>
            <a:ext cx="1874520" cy="1325880"/>
          </a:xfrm>
          <a:prstGeom prst="rect">
            <a:avLst/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693408" y="2103120"/>
            <a:ext cx="1874520" cy="54864"/>
          </a:xfrm>
          <a:prstGeom prst="rect">
            <a:avLst/>
          </a:prstGeom>
          <a:solidFill>
            <a:srgbClr val="00B341"/>
          </a:solidFill>
          <a:ln w="12700">
            <a:solidFill>
              <a:srgbClr val="00B341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876288" y="2286000"/>
            <a:ext cx="411480" cy="411480"/>
          </a:xfrm>
          <a:prstGeom prst="ellipse">
            <a:avLst/>
          </a:prstGeom>
          <a:solidFill>
            <a:srgbClr val="0A1F0E"/>
          </a:solidFill>
          <a:ln w="12700">
            <a:solidFill>
              <a:srgbClr val="0A1F0E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2377440"/>
            <a:ext cx="228600" cy="2286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379208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6876288" y="281635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· Gemini · Opus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gate sem(8)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502920" y="3749040"/>
            <a:ext cx="8138160" cy="868680"/>
          </a:xfrm>
          <a:prstGeom prst="rect">
            <a:avLst/>
          </a:prstGeom>
          <a:solidFill>
            <a:srgbClr val="0A1F0E"/>
          </a:solidFill>
          <a:ln w="12700">
            <a:solidFill>
              <a:srgbClr val="0A1F0E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502920" y="3749040"/>
            <a:ext cx="73152" cy="868680"/>
          </a:xfrm>
          <a:prstGeom prst="rect">
            <a:avLst/>
          </a:prstGeom>
          <a:solidFill>
            <a:srgbClr val="00B341"/>
          </a:solidFill>
          <a:ln w="12700">
            <a:solidFill>
              <a:srgbClr val="00B341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713232" y="3840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OPS PLANE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713232" y="40782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/ws/notifications  ·  Pipeline event bus (ring buffer 500, dedup by run|step|status)  ·  Slowapi rate limit 600/min  ·  Per-request UUID  ·  JSON structured logs  ·  Health probe + AI status check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 ·  CEO BRIEFING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7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 ·  02  ·  CV PIPELINE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upload to shortlist in 13 atomic steps.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Per-step model + cost + latency persisted to pipeline_trace. Live-streamed to bottom-right CLI terminal.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8620" y="1920240"/>
            <a:ext cx="2697480" cy="2331720"/>
          </a:xfrm>
          <a:prstGeom prst="rect">
            <a:avLst/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8620" y="1920240"/>
            <a:ext cx="2697480" cy="54864"/>
          </a:xfrm>
          <a:prstGeom prst="rect">
            <a:avLst/>
          </a:prstGeom>
          <a:solidFill>
            <a:srgbClr val="00B341"/>
          </a:solidFill>
          <a:ln w="12700">
            <a:solidFill>
              <a:srgbClr val="00B3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1500" y="206654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 ·  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71500" y="224942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INTAKE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" y="26334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in, raw text out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71500" y="2999232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CLASSIFY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EXTRACT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2.5 VERIFY (Opus 4.7)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SCREENSHOTS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23260" y="1920240"/>
            <a:ext cx="2697480" cy="2331720"/>
          </a:xfrm>
          <a:prstGeom prst="rect">
            <a:avLst/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23260" y="1920240"/>
            <a:ext cx="2697480" cy="54864"/>
          </a:xfrm>
          <a:prstGeom prst="rect">
            <a:avLst/>
          </a:prstGeom>
          <a:solidFill>
            <a:srgbClr val="00B341"/>
          </a:solidFill>
          <a:ln w="12700">
            <a:solidFill>
              <a:srgbClr val="00B3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6140" y="206654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 ·  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06140" y="224942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06140" y="26334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+ persist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06140" y="2999232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STRUCTURE  (Gemini 3 Flash)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ENRICH       (Flash-Lite)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SAVE          (PostgreSQL)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57900" y="1920240"/>
            <a:ext cx="2697480" cy="2331720"/>
          </a:xfrm>
          <a:prstGeom prst="rect">
            <a:avLst/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57900" y="1920240"/>
            <a:ext cx="2697480" cy="54864"/>
          </a:xfrm>
          <a:prstGeom prst="rect">
            <a:avLst/>
          </a:prstGeom>
          <a:solidFill>
            <a:srgbClr val="00B341"/>
          </a:solidFill>
          <a:ln w="12700">
            <a:solidFill>
              <a:srgbClr val="00B3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40780" y="206654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7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 ·  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40780" y="224942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40780" y="26334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Embed, score, route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40780" y="2999232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KNOWLEDGE Q&amp;A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HyPE_EMBED  (vec 1536)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CONTEXT_EMBED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QUALITY  ·  11  TAG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AUTO_MATCH → all positions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4434840"/>
            <a:ext cx="8138160" cy="274320"/>
          </a:xfrm>
          <a:prstGeom prst="rect">
            <a:avLst/>
          </a:prstGeom>
          <a:solidFill>
            <a:srgbClr val="0A1F0E"/>
          </a:solidFill>
          <a:ln w="12700">
            <a:solidFill>
              <a:srgbClr val="0A1F0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4348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OCR  ·  PaddleOCR  →  Vision LLM (handwritten)  →  Tesseract  ·  AVG $0.015 / CV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 ·  CEO BRIEFING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7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 ·  03  ·  MATCHING ENGINE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dimensions. Weighted, explainable, semantic.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with per-dimension bars + side-by-side compare. Weights inherit Tenant → Sector → JD → Position.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2423160" cy="502920"/>
          </a:xfrm>
          <a:prstGeom prst="rect">
            <a:avLst/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20824"/>
            <a:ext cx="292608" cy="292608"/>
          </a:xfrm>
          <a:prstGeom prst="ellipse">
            <a:avLst/>
          </a:prstGeom>
          <a:solidFill>
            <a:srgbClr val="00B341"/>
          </a:solidFill>
          <a:ln w="12700">
            <a:solidFill>
              <a:srgbClr val="00B34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084832"/>
            <a:ext cx="164592" cy="1645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95681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60120" y="21671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80% / nice 20%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017520" y="1920240"/>
            <a:ext cx="2423160" cy="502920"/>
          </a:xfrm>
          <a:prstGeom prst="rect">
            <a:avLst/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08960" y="2020824"/>
            <a:ext cx="292608" cy="292608"/>
          </a:xfrm>
          <a:prstGeom prst="ellipse">
            <a:avLst/>
          </a:prstGeom>
          <a:solidFill>
            <a:srgbClr val="00B341"/>
          </a:solidFill>
          <a:ln w="12700">
            <a:solidFill>
              <a:srgbClr val="00B34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2084832"/>
            <a:ext cx="164592" cy="1645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74720" y="195681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474720" y="21671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years curve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02920" y="2478024"/>
            <a:ext cx="2423160" cy="502920"/>
          </a:xfrm>
          <a:prstGeom prst="rect">
            <a:avLst/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94360" y="2578608"/>
            <a:ext cx="292608" cy="292608"/>
          </a:xfrm>
          <a:prstGeom prst="ellipse">
            <a:avLst/>
          </a:prstGeom>
          <a:solidFill>
            <a:srgbClr val="00B341"/>
          </a:solidFill>
          <a:ln w="12700">
            <a:solidFill>
              <a:srgbClr val="00B34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642616"/>
            <a:ext cx="164592" cy="1645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" y="25146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960120" y="27249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rank 1–5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3017520" y="2478024"/>
            <a:ext cx="2423160" cy="502920"/>
          </a:xfrm>
          <a:prstGeom prst="rect">
            <a:avLst/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108960" y="2578608"/>
            <a:ext cx="292608" cy="292608"/>
          </a:xfrm>
          <a:prstGeom prst="ellipse">
            <a:avLst/>
          </a:prstGeom>
          <a:solidFill>
            <a:srgbClr val="00B341"/>
          </a:solidFill>
          <a:ln w="12700">
            <a:solidFill>
              <a:srgbClr val="00B341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2968" y="2642616"/>
            <a:ext cx="164592" cy="16459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474720" y="25146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3474720" y="27249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required overlap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502920" y="3035808"/>
            <a:ext cx="2423160" cy="502920"/>
          </a:xfrm>
          <a:prstGeom prst="rect">
            <a:avLst/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94360" y="3136392"/>
            <a:ext cx="292608" cy="292608"/>
          </a:xfrm>
          <a:prstGeom prst="ellipse">
            <a:avLst/>
          </a:prstGeom>
          <a:solidFill>
            <a:srgbClr val="00B341"/>
          </a:solidFill>
          <a:ln w="12700">
            <a:solidFill>
              <a:srgbClr val="00B341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200400"/>
            <a:ext cx="164592" cy="16459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60120" y="307238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960120" y="32826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keyword match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3017520" y="3035808"/>
            <a:ext cx="2423160" cy="502920"/>
          </a:xfrm>
          <a:prstGeom prst="rect">
            <a:avLst/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108960" y="3136392"/>
            <a:ext cx="292608" cy="292608"/>
          </a:xfrm>
          <a:prstGeom prst="ellipse">
            <a:avLst/>
          </a:prstGeom>
          <a:solidFill>
            <a:srgbClr val="00B341"/>
          </a:solidFill>
          <a:ln w="12700">
            <a:solidFill>
              <a:srgbClr val="00B341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2968" y="3200400"/>
            <a:ext cx="164592" cy="16459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474720" y="307238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3474720" y="32826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position values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502920" y="3593592"/>
            <a:ext cx="2423160" cy="502920"/>
          </a:xfrm>
          <a:prstGeom prst="rect">
            <a:avLst/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594360" y="3694176"/>
            <a:ext cx="292608" cy="292608"/>
          </a:xfrm>
          <a:prstGeom prst="ellipse">
            <a:avLst/>
          </a:prstGeom>
          <a:solidFill>
            <a:srgbClr val="00B341"/>
          </a:solidFill>
          <a:ln w="12700">
            <a:solidFill>
              <a:srgbClr val="00B341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3758184"/>
            <a:ext cx="164592" cy="16459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960120" y="363016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COMPETENCIES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960120" y="38404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KF4D · 12 seeded</a:t>
            </a:r>
            <a:endParaRPr lang="en-US" sz="900" dirty="0"/>
          </a:p>
        </p:txBody>
      </p:sp>
      <p:sp>
        <p:nvSpPr>
          <p:cNvPr id="40" name="Shape 31"/>
          <p:cNvSpPr/>
          <p:nvPr/>
        </p:nvSpPr>
        <p:spPr>
          <a:xfrm>
            <a:off x="5669280" y="1920240"/>
            <a:ext cx="2971800" cy="2606040"/>
          </a:xfrm>
          <a:prstGeom prst="rect">
            <a:avLst/>
          </a:prstGeom>
          <a:solidFill>
            <a:srgbClr val="0A1F0E"/>
          </a:solidFill>
          <a:ln w="12700">
            <a:solidFill>
              <a:srgbClr val="0A1F0E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5669280" y="1920240"/>
            <a:ext cx="2971800" cy="54864"/>
          </a:xfrm>
          <a:prstGeom prst="rect">
            <a:avLst/>
          </a:prstGeom>
          <a:solidFill>
            <a:srgbClr val="00B341"/>
          </a:solidFill>
          <a:ln w="12700">
            <a:solidFill>
              <a:srgbClr val="00B341"/>
            </a:solidFill>
            <a:prstDash val="solid"/>
          </a:ln>
        </p:spPr>
      </p:sp>
      <p:sp>
        <p:nvSpPr>
          <p:cNvPr id="42" name="Text 33"/>
          <p:cNvSpPr/>
          <p:nvPr/>
        </p:nvSpPr>
        <p:spPr>
          <a:xfrm>
            <a:off x="5852160" y="208483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</a:t>
            </a:r>
            <a:endParaRPr lang="en-US" sz="1000" dirty="0"/>
          </a:p>
        </p:txBody>
      </p:sp>
      <p:sp>
        <p:nvSpPr>
          <p:cNvPr id="43" name="Text 34"/>
          <p:cNvSpPr/>
          <p:nvPr/>
        </p:nvSpPr>
        <p:spPr>
          <a:xfrm>
            <a:off x="5852160" y="234086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PgVector  ·  1536-dim</a:t>
            </a:r>
            <a:endParaRPr lang="en-US" sz="1600" dirty="0"/>
          </a:p>
        </p:txBody>
      </p:sp>
      <p:sp>
        <p:nvSpPr>
          <p:cNvPr id="44" name="Text 35"/>
          <p:cNvSpPr/>
          <p:nvPr/>
        </p:nvSpPr>
        <p:spPr>
          <a:xfrm>
            <a:off x="5852160" y="2697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C5D2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candidate_embeddings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C5D2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candidate_qa_pairs (HyPE)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C5D2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agent_memory (ivfflat)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5852160" y="3547872"/>
            <a:ext cx="2606040" cy="0"/>
          </a:xfrm>
          <a:prstGeom prst="line">
            <a:avLst/>
          </a:prstGeom>
          <a:noFill/>
          <a:ln w="12700">
            <a:solidFill>
              <a:srgbClr val="1F3A2A"/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5852160" y="363931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INHERITANCE</a:t>
            </a:r>
            <a:endParaRPr lang="en-US" sz="1000" dirty="0"/>
          </a:p>
        </p:txBody>
      </p:sp>
      <p:sp>
        <p:nvSpPr>
          <p:cNvPr id="47" name="Text 38"/>
          <p:cNvSpPr/>
          <p:nvPr/>
        </p:nvSpPr>
        <p:spPr>
          <a:xfrm>
            <a:off x="5852160" y="3886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→ Sector → JD → Position</a:t>
            </a:r>
            <a:endParaRPr lang="en-US" sz="1200" dirty="0"/>
          </a:p>
        </p:txBody>
      </p:sp>
      <p:sp>
        <p:nvSpPr>
          <p:cNvPr id="48" name="Text 39"/>
          <p:cNvSpPr/>
          <p:nvPr/>
        </p:nvSpPr>
        <p:spPr>
          <a:xfrm>
            <a:off x="5852160" y="413308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5D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Per-position lock supported.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C5D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Auto-normalises to 100.</a:t>
            </a:r>
            <a:endParaRPr lang="en-US" sz="950" dirty="0"/>
          </a:p>
        </p:txBody>
      </p:sp>
      <p:sp>
        <p:nvSpPr>
          <p:cNvPr id="49" name="Text 40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  <p:sp>
        <p:nvSpPr>
          <p:cNvPr id="50" name="Text 41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 ·  CEO BRIEFING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7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 ·  04  ·  HR BRAIN AGENT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tools. Role-aware. Memory that learns.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Agno-style tool-loop with PII-redacted traces, pgvector recall (top-K=5, 24h embed cache), per-session $ cap.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4846320" cy="594360"/>
          </a:xfrm>
          <a:prstGeom prst="rect">
            <a:avLst/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920240"/>
            <a:ext cx="54864" cy="594360"/>
          </a:xfrm>
          <a:prstGeom prst="rect">
            <a:avLst/>
          </a:prstGeom>
          <a:solidFill>
            <a:srgbClr val="00B341"/>
          </a:solidFill>
          <a:ln w="12700">
            <a:solidFill>
              <a:srgbClr val="00B3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97510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20240" y="1975104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query_cvs   ·   get_candidate_brief   ·   score_cv_vs_position   ·   list_candidate_pipeline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2606040"/>
            <a:ext cx="4846320" cy="594360"/>
          </a:xfrm>
          <a:prstGeom prst="rect">
            <a:avLst/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606040"/>
            <a:ext cx="54864" cy="594360"/>
          </a:xfrm>
          <a:prstGeom prst="rect">
            <a:avLst/>
          </a:prstGeom>
          <a:solidFill>
            <a:srgbClr val="00B341"/>
          </a:solidFill>
          <a:ln w="12700">
            <a:solidFill>
              <a:srgbClr val="00B3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66090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2660904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query_positions   ·   get_position_brief   ·   get_pipeline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3291840"/>
            <a:ext cx="4846320" cy="594360"/>
          </a:xfrm>
          <a:prstGeom prst="rect">
            <a:avLst/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291840"/>
            <a:ext cx="54864" cy="594360"/>
          </a:xfrm>
          <a:prstGeom prst="rect">
            <a:avLst/>
          </a:prstGeom>
          <a:solidFill>
            <a:srgbClr val="00B341"/>
          </a:solidFill>
          <a:ln w="12700">
            <a:solidFill>
              <a:srgbClr val="00B3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334670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3346704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query_brain   ·   update_brain  ★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3977640"/>
            <a:ext cx="4846320" cy="594360"/>
          </a:xfrm>
          <a:prstGeom prst="rect">
            <a:avLst/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977640"/>
            <a:ext cx="54864" cy="594360"/>
          </a:xfrm>
          <a:prstGeom prst="rect">
            <a:avLst/>
          </a:prstGeom>
          <a:solidFill>
            <a:srgbClr val="00B341"/>
          </a:solidFill>
          <a:ln w="12700">
            <a:solidFill>
              <a:srgbClr val="00B3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403250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4032504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query_funnel   ·   draft_email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461772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write tool — analyst / admin / superadmin only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577840" y="1920240"/>
            <a:ext cx="3063240" cy="54864"/>
          </a:xfrm>
          <a:prstGeom prst="rect">
            <a:avLst/>
          </a:prstGeom>
          <a:solidFill>
            <a:srgbClr val="00B341"/>
          </a:solidFill>
          <a:ln w="12700">
            <a:solidFill>
              <a:srgbClr val="00B3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202996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7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× TOOL ACCESS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2331720"/>
          <a:ext cx="30632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548640"/>
                <a:gridCol w="548640"/>
                <a:gridCol w="5486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75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REC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75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ANL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75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ADM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A1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 / position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751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✓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751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✓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751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✓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A1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query_brain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751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✓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751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✓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751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✓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A1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update_brain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50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✗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751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✓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751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✓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A1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query_funnel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751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✓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751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✓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751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✓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A1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draft_email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751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✓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50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✗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751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✓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5577840" y="431596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 · 30-case eval gate (≥4.0)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 ·  CEO BRIEFING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7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 ·  05  ·  DATA + UI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 tables of org data. A frontend built like a product.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18 with PgVector. SvelteKit 5 with brutalist design system, real-time pipeline streaming.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4114800" cy="2697480"/>
          </a:xfrm>
          <a:prstGeom prst="rect">
            <a:avLst/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920240"/>
            <a:ext cx="4114800" cy="54864"/>
          </a:xfrm>
          <a:prstGeom prst="rect">
            <a:avLst/>
          </a:prstGeom>
          <a:solidFill>
            <a:srgbClr val="00B341"/>
          </a:solidFill>
          <a:ln w="12700">
            <a:solidFill>
              <a:srgbClr val="00B3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103120"/>
            <a:ext cx="411480" cy="411480"/>
          </a:xfrm>
          <a:prstGeom prst="ellipse">
            <a:avLst/>
          </a:prstGeom>
          <a:solidFill>
            <a:srgbClr val="0A1F0E"/>
          </a:solidFill>
          <a:ln w="12700">
            <a:solidFill>
              <a:srgbClr val="0A1F0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9456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210312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88720" y="23134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 tables  ·  PgVector 1536-dim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278892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7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candidates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7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7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position_candidates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7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candidate_embeddings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7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agent_memory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7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pipeline_trace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7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llm_call_log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7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tool_traces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46320" y="1920240"/>
            <a:ext cx="3840480" cy="2697480"/>
          </a:xfrm>
          <a:prstGeom prst="rect">
            <a:avLst/>
          </a:prstGeom>
          <a:solidFill>
            <a:srgbClr val="0A1F0E"/>
          </a:solidFill>
          <a:ln w="12700">
            <a:solidFill>
              <a:srgbClr val="0A1F0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46320" y="1920240"/>
            <a:ext cx="3840480" cy="54864"/>
          </a:xfrm>
          <a:prstGeom prst="rect">
            <a:avLst/>
          </a:prstGeom>
          <a:solidFill>
            <a:srgbClr val="00B341"/>
          </a:solidFill>
          <a:ln w="12700">
            <a:solidFill>
              <a:srgbClr val="00B34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29200" y="2103120"/>
            <a:ext cx="411480" cy="411480"/>
          </a:xfrm>
          <a:prstGeom prst="ellipse">
            <a:avLst/>
          </a:prstGeom>
          <a:solidFill>
            <a:srgbClr val="00B341"/>
          </a:solidFill>
          <a:ln w="12700">
            <a:solidFill>
              <a:srgbClr val="00B34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194560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32120" y="210312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·  SVELTEKIT 5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532120" y="23134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routes  ·  20 components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120640" y="278892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CLI Terminal — live pipeline trace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Files — bulk run, parallel upload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LinkedIn-style profile — split source/data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— ECharts · heatmap · Sankey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billing dashboard — admin only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 ·  CEO BRIEFING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783080" cy="274320"/>
          </a:xfrm>
          <a:prstGeom prst="rect">
            <a:avLst/>
          </a:prstGeom>
          <a:solidFill>
            <a:srgbClr val="00B341"/>
          </a:solidFill>
          <a:ln w="12700">
            <a:solidFill>
              <a:srgbClr val="00B3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SHIPPED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AI-native hiring, end to end.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production. 165+ APIs · 44 DB tables · 27 tests passing.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25780" y="1874520"/>
            <a:ext cx="1920240" cy="868680"/>
          </a:xfrm>
          <a:prstGeom prst="rect">
            <a:avLst/>
          </a:prstGeom>
          <a:solidFill>
            <a:srgbClr val="0A1F0E"/>
          </a:solidFill>
          <a:ln w="12700">
            <a:solidFill>
              <a:srgbClr val="0A1F0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5780" y="1920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25780" y="23591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C5D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AI PIPELINE</a:t>
            </a:r>
            <a:endParaRPr lang="en-US" sz="850" dirty="0"/>
          </a:p>
          <a:p>
            <a:pPr algn="ctr" indent="0" marL="0">
              <a:buNone/>
            </a:pPr>
            <a:r>
              <a:rPr lang="en-US" sz="850" spc="100" kern="0" dirty="0">
                <a:solidFill>
                  <a:srgbClr val="C5D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CV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83180" y="1874520"/>
            <a:ext cx="1920240" cy="868680"/>
          </a:xfrm>
          <a:prstGeom prst="rect">
            <a:avLst/>
          </a:prstGeom>
          <a:solidFill>
            <a:srgbClr val="0A1F0E"/>
          </a:solidFill>
          <a:ln w="12700">
            <a:solidFill>
              <a:srgbClr val="0A1F0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83180" y="1920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83180" y="23591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C5D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OCR</a:t>
            </a:r>
            <a:endParaRPr lang="en-US" sz="850" dirty="0"/>
          </a:p>
          <a:p>
            <a:pPr algn="ctr" indent="0" marL="0">
              <a:buNone/>
            </a:pPr>
            <a:r>
              <a:rPr lang="en-US" sz="850" spc="100" kern="0" dirty="0">
                <a:solidFill>
                  <a:srgbClr val="C5D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incl. Burmese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40580" y="1874520"/>
            <a:ext cx="1920240" cy="868680"/>
          </a:xfrm>
          <a:prstGeom prst="rect">
            <a:avLst/>
          </a:prstGeom>
          <a:solidFill>
            <a:srgbClr val="0A1F0E"/>
          </a:solidFill>
          <a:ln w="12700">
            <a:solidFill>
              <a:srgbClr val="0A1F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0580" y="1920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$0.015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40580" y="23591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C5D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CV</a:t>
            </a:r>
            <a:endParaRPr lang="en-US" sz="850" dirty="0"/>
          </a:p>
          <a:p>
            <a:pPr algn="ctr" indent="0" marL="0">
              <a:buNone/>
            </a:pPr>
            <a:r>
              <a:rPr lang="en-US" sz="850" spc="100" kern="0" dirty="0">
                <a:solidFill>
                  <a:srgbClr val="C5D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+ Opus verify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697980" y="1874520"/>
            <a:ext cx="1920240" cy="868680"/>
          </a:xfrm>
          <a:prstGeom prst="rect">
            <a:avLst/>
          </a:prstGeom>
          <a:solidFill>
            <a:srgbClr val="0A1F0E"/>
          </a:solidFill>
          <a:ln w="12700">
            <a:solidFill>
              <a:srgbClr val="0A1F0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97980" y="1920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697980" y="23591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C5D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TOOLS</a:t>
            </a:r>
            <a:endParaRPr lang="en-US" sz="850" dirty="0"/>
          </a:p>
          <a:p>
            <a:pPr algn="ctr" indent="0" marL="0">
              <a:buNone/>
            </a:pPr>
            <a:r>
              <a:rPr lang="en-US" sz="850" spc="100" kern="0" dirty="0">
                <a:solidFill>
                  <a:srgbClr val="C5D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Brain chatbot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" y="3081528"/>
            <a:ext cx="457200" cy="457200"/>
          </a:xfrm>
          <a:prstGeom prst="ellipse">
            <a:avLst/>
          </a:prstGeom>
          <a:solidFill>
            <a:srgbClr val="00B341"/>
          </a:solidFill>
          <a:ln w="12700">
            <a:solidFill>
              <a:srgbClr val="00B34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3191256"/>
            <a:ext cx="237744" cy="23774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097280" y="30175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CV Repository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097280" y="32918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upload, 13-step pipeline, hybrid OCR (PaddleOCR + Vision LLM)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709160" y="3081528"/>
            <a:ext cx="457200" cy="457200"/>
          </a:xfrm>
          <a:prstGeom prst="ellipse">
            <a:avLst/>
          </a:prstGeom>
          <a:solidFill>
            <a:srgbClr val="00B341"/>
          </a:solidFill>
          <a:ln w="12700">
            <a:solidFill>
              <a:srgbClr val="00B341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3191256"/>
            <a:ext cx="237744" cy="23774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303520" y="30175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Matching Engine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5303520" y="32918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weighted dimensions incl. Korn Ferry competencies; auto-scan + auto-match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502920" y="3950208"/>
            <a:ext cx="457200" cy="457200"/>
          </a:xfrm>
          <a:prstGeom prst="ellipse">
            <a:avLst/>
          </a:prstGeom>
          <a:solidFill>
            <a:srgbClr val="00B341"/>
          </a:solidFill>
          <a:ln w="12700">
            <a:solidFill>
              <a:srgbClr val="00B341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4059936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097280" y="38862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Brain Chatbot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1097280" y="41605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Agno-style agent w/ 11 tools, pgvector memory, role-gated permissions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4709160" y="3950208"/>
            <a:ext cx="457200" cy="457200"/>
          </a:xfrm>
          <a:prstGeom prst="ellipse">
            <a:avLst/>
          </a:prstGeom>
          <a:solidFill>
            <a:srgbClr val="00B341"/>
          </a:solidFill>
          <a:ln w="12700">
            <a:solidFill>
              <a:srgbClr val="00B341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4059936"/>
            <a:ext cx="237744" cy="23774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303520" y="38862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Intake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5303520" y="41605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· Hindi · Arabic · CN/JP/KR · Burmese (Zawgyi-aware) handwritten OK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 ·  CEO BRIEFING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783080" cy="274320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IN BUILD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hiring tool to org heartbeat.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platform, same login, same data. Comms layered on top of the hiring graph we already own.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2011680"/>
            <a:ext cx="2743200" cy="2331720"/>
          </a:xfrm>
          <a:prstGeom prst="rect">
            <a:avLst/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2011680"/>
            <a:ext cx="54864" cy="2331720"/>
          </a:xfrm>
          <a:prstGeom prst="rect">
            <a:avLst/>
          </a:prstGeom>
          <a:solidFill>
            <a:srgbClr val="00B341"/>
          </a:solidFill>
          <a:ln w="12700">
            <a:solidFill>
              <a:srgbClr val="00B34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286000"/>
            <a:ext cx="594360" cy="594360"/>
          </a:xfrm>
          <a:prstGeom prst="ellipse">
            <a:avLst/>
          </a:prstGeom>
          <a:solidFill>
            <a:srgbClr val="0A1F0E"/>
          </a:solidFill>
          <a:ln w="12700">
            <a:solidFill>
              <a:srgbClr val="0A1F0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42316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Communication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94360" y="33832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F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by team / dept / project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F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@mentions, threads, read-receipts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F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announcements + acknowledgement tracking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00400" y="2011680"/>
            <a:ext cx="2743200" cy="2331720"/>
          </a:xfrm>
          <a:prstGeom prst="rect">
            <a:avLst/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2011680"/>
            <a:ext cx="54864" cy="2331720"/>
          </a:xfrm>
          <a:prstGeom prst="rect">
            <a:avLst/>
          </a:prstGeom>
          <a:solidFill>
            <a:srgbClr val="00B341"/>
          </a:solidFill>
          <a:ln w="12700">
            <a:solidFill>
              <a:srgbClr val="00B34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74720" y="2286000"/>
            <a:ext cx="594360" cy="594360"/>
          </a:xfrm>
          <a:prstGeom prst="ellipse">
            <a:avLst/>
          </a:prstGeom>
          <a:solidFill>
            <a:srgbClr val="0A1F0E"/>
          </a:solidFill>
          <a:ln w="12700">
            <a:solidFill>
              <a:srgbClr val="0A1F0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42316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74720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Template Generation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474720" y="33832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F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posts, offer letters, rejection emails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F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kits, policy memos, broadcasts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F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Brand-tuned tone; one-click multi-language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080760" y="2011680"/>
            <a:ext cx="2743200" cy="2331720"/>
          </a:xfrm>
          <a:prstGeom prst="rect">
            <a:avLst/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080760" y="2011680"/>
            <a:ext cx="54864" cy="2331720"/>
          </a:xfrm>
          <a:prstGeom prst="rect">
            <a:avLst/>
          </a:prstGeom>
          <a:solidFill>
            <a:srgbClr val="00B341"/>
          </a:solidFill>
          <a:ln w="12700">
            <a:solidFill>
              <a:srgbClr val="00B34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355080" y="2286000"/>
            <a:ext cx="594360" cy="594360"/>
          </a:xfrm>
          <a:prstGeom prst="ellipse">
            <a:avLst/>
          </a:prstGeom>
          <a:solidFill>
            <a:srgbClr val="0A1F0E"/>
          </a:solidFill>
          <a:ln w="12700">
            <a:solidFill>
              <a:srgbClr val="0A1F0E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423160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55080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Broadcasts &amp; Internal Ads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355080" y="33832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F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Org-wide push (web / email / mobile)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F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campaigns by role, tenure, location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F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+ click + ack analytics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 ·  CEO BRIEFING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7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ASK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go from here.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286000"/>
            <a:ext cx="7589520" cy="0"/>
          </a:xfrm>
          <a:prstGeom prst="line">
            <a:avLst/>
          </a:prstGeom>
          <a:noFill/>
          <a:ln w="25400">
            <a:solidFill>
              <a:srgbClr val="D9DE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2121408"/>
            <a:ext cx="329184" cy="329184"/>
          </a:xfrm>
          <a:prstGeom prst="ellipse">
            <a:avLst/>
          </a:prstGeom>
          <a:solidFill>
            <a:srgbClr val="00B341"/>
          </a:solidFill>
          <a:ln w="25400">
            <a:solidFill>
              <a:srgbClr val="00B3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-137160" y="1828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7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-13716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LIVE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-137160" y="285292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+ AI matching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42488" y="2121408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B75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92680" y="1828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7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9268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COMMS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92680" y="285292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channels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generator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72328" y="2121408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B75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22520" y="1828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7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2252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BROADCAST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22520" y="285292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Org-wide push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campaigns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202168" y="2121408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B75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52360" y="1828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7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5236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ENGAGE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52360" y="285292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Surveys, sentiment,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automation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749040"/>
            <a:ext cx="8138160" cy="960120"/>
          </a:xfrm>
          <a:prstGeom prst="rect">
            <a:avLst/>
          </a:prstGeom>
          <a:solidFill>
            <a:srgbClr val="0A1F0E"/>
          </a:solidFill>
          <a:ln w="12700">
            <a:solidFill>
              <a:srgbClr val="0A1F0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749040"/>
            <a:ext cx="73152" cy="960120"/>
          </a:xfrm>
          <a:prstGeom prst="rect">
            <a:avLst/>
          </a:prstGeom>
          <a:solidFill>
            <a:srgbClr val="00B341"/>
          </a:solidFill>
          <a:ln w="12700">
            <a:solidFill>
              <a:srgbClr val="00B34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858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4114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Greenlight Phase 2 build  ·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backend + 1 frontend hire  ·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2 internal teams in Q3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44348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8C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codebase. Same DB. Net-new modules behind feature flags — zero risk to live hiring flow.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 ·  CEO BRIEFING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 — CEO Briefing</dc:title>
  <dc:subject>PptxGenJS Presentation</dc:subject>
  <dc:creator>Rahul Gupta</dc:creator>
  <cp:lastModifiedBy>Rahul Gupta</cp:lastModifiedBy>
  <cp:revision>1</cp:revision>
  <dcterms:created xsi:type="dcterms:W3CDTF">2026-05-07T01:50:50Z</dcterms:created>
  <dcterms:modified xsi:type="dcterms:W3CDTF">2026-05-07T01:50:50Z</dcterms:modified>
</cp:coreProperties>
</file>