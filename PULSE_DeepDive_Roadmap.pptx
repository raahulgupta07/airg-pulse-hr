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2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383832"/>
                </a:solidFill>
                <a:latin typeface="Space Grotesk"/>
              </a:defRPr>
            </a:pPr>
            <a:r>
              <a:rPr sz="1100" b="0" i="0" u="none" strike="noStrike">
                <a:solidFill>
                  <a:srgbClr val="383832"/>
                </a:solidFill>
                <a:latin typeface="Space Grotesk"/>
              </a:rPr>
              <a:t>EXAMPLE WEIGHT MIX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Weight (sample)</c:v>
                </c:pt>
              </c:strCache>
            </c:strRef>
          </c:tx>
          <c:spPr>
            <a:solidFill>
              <a:srgbClr val="00751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8383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Skills</c:v>
                  </c:pt>
                  <c:pt idx="1">
                    <c:v>Experience</c:v>
                  </c:pt>
                  <c:pt idx="2">
                    <c:v>Industry</c:v>
                  </c:pt>
                  <c:pt idx="3">
                    <c:v>Education</c:v>
                  </c:pt>
                  <c:pt idx="4">
                    <c:v>Certifications</c:v>
                  </c:pt>
                  <c:pt idx="5">
                    <c:v>Culture</c:v>
                  </c:pt>
                  <c:pt idx="6">
                    <c:v>Competencies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25</c:v>
                </c:pt>
                <c:pt idx="1">
                  <c:v>20</c:v>
                </c:pt>
                <c:pt idx="2">
                  <c:v>15</c:v>
                </c:pt>
                <c:pt idx="3">
                  <c:v>10</c:v>
                </c:pt>
                <c:pt idx="4">
                  <c:v>5</c:v>
                </c:pt>
                <c:pt idx="5">
                  <c:v>10</c:v>
                </c:pt>
                <c:pt idx="6">
                  <c:v>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38383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8383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C8C8B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7A7A6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 w="12700" cap="flat">
      <a:solidFill>
        <a:srgbClr val="383832"/>
      </a:solidFill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383832"/>
                </a:solidFill>
                <a:latin typeface="Space Grotesk"/>
              </a:defRPr>
            </a:pPr>
            <a:r>
              <a:rPr sz="1100" b="0" i="0" u="none" strike="noStrike">
                <a:solidFill>
                  <a:srgbClr val="383832"/>
                </a:solidFill>
                <a:latin typeface="Space Grotesk"/>
              </a:rPr>
              <a:t>TYPICAL CALL MIX (illustrative)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LLM mix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7518"/>
              </a:solidFill>
              <a:effectLst/>
            </c:spPr>
          </c:dPt>
          <c:dPt>
            <c:idx val="1"/>
            <c:bubble3D val="0"/>
            <c:spPr>
              <a:solidFill>
                <a:srgbClr val="00FC40"/>
              </a:solidFill>
              <a:effectLst/>
            </c:spPr>
          </c:dPt>
          <c:dPt>
            <c:idx val="2"/>
            <c:bubble3D val="0"/>
            <c:spPr>
              <a:solidFill>
                <a:srgbClr val="B85042"/>
              </a:solidFill>
              <a:effectLst/>
            </c:spPr>
          </c:dPt>
          <c:dPt>
            <c:idx val="3"/>
            <c:bubble3D val="0"/>
            <c:spPr>
              <a:solidFill>
                <a:srgbClr val="383832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Flash (cheap)</c:v>
                </c:pt>
                <c:pt idx="1">
                  <c:v>Lite (cheapest)</c:v>
                </c:pt>
                <c:pt idx="2">
                  <c:v>Opus (verifier)</c:v>
                </c:pt>
                <c:pt idx="3">
                  <c:v>GPT-5.4-mini (deep)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55</c:v>
                </c:pt>
                <c:pt idx="1">
                  <c:v>25</c:v>
                </c:pt>
                <c:pt idx="2">
                  <c:v>10</c:v>
                </c:pt>
                <c:pt idx="3">
                  <c:v>10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383832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 w="12700" cap="flat">
      <a:solidFill>
        <a:srgbClr val="383832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838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292608" cy="292608"/>
          </a:xfrm>
          <a:prstGeom prst="rect">
            <a:avLst/>
          </a:prstGeom>
          <a:solidFill>
            <a:srgbClr val="00FC40"/>
          </a:solidFill>
          <a:ln w="12700">
            <a:solidFill>
              <a:srgbClr val="00FC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41148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800" kern="0" dirty="0">
                <a:solidFill>
                  <a:srgbClr val="FEFFD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PULSE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" y="7589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00FC4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ORG HEARTBEAT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8412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spc="-200" kern="0" dirty="0">
                <a:solidFill>
                  <a:srgbClr val="FEFFD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DEEP-DIVE +</a:t>
            </a:r>
            <a:endParaRPr lang="en-US" sz="6000" dirty="0"/>
          </a:p>
          <a:p>
            <a:pPr indent="0" marL="0">
              <a:buNone/>
            </a:pPr>
            <a:r>
              <a:rPr lang="en-US" sz="6000" b="1" spc="-200" kern="0" dirty="0">
                <a:solidFill>
                  <a:srgbClr val="FEFFD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FUTURE ROADMAP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457200" y="35204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EFFD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FROM A GPT CV/RESUME AGENT  </a:t>
            </a:r>
            <a:pPr indent="0" marL="0">
              <a:buNone/>
            </a:pPr>
            <a:r>
              <a:rPr lang="en-US" sz="1400" b="1" spc="300" kern="0" dirty="0">
                <a:solidFill>
                  <a:srgbClr val="00FC4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→  </a:t>
            </a:r>
            <a:pPr indent="0" marL="0">
              <a:buNone/>
            </a:pPr>
            <a:r>
              <a:rPr lang="en-US" sz="1400" b="1" spc="300" kern="0" dirty="0">
                <a:solidFill>
                  <a:srgbClr val="00FC4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AGENTIC, END-TO-END ORG OS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4526280"/>
            <a:ext cx="640080" cy="36576"/>
          </a:xfrm>
          <a:prstGeom prst="rect">
            <a:avLst/>
          </a:prstGeom>
          <a:solidFill>
            <a:srgbClr val="00FC40"/>
          </a:solidFill>
          <a:ln w="12700">
            <a:solidFill>
              <a:srgbClr val="00FC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6177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EFFD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INTERNAL — ENG + LEADERSHIP  ·  V1.0  ·  MAY 2026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138160" y="46177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00FC4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 / 25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FF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FC40"/>
          </a:solidFill>
          <a:ln w="12700">
            <a:solidFill>
              <a:srgbClr val="3838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76656" y="36576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AGENDA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-100" kern="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7A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25-slide tour of what's shipped + where we're going next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457200" cy="329184"/>
          </a:xfrm>
          <a:prstGeom prst="rect">
            <a:avLst/>
          </a:prstGeom>
          <a:solidFill>
            <a:srgbClr val="383832"/>
          </a:solidFill>
          <a:ln w="12700">
            <a:solidFill>
              <a:srgbClr val="3838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828800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FC4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17830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PULSE is today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303520" y="17830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7A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Positioning, brand, leap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203704"/>
            <a:ext cx="8229600" cy="0"/>
          </a:xfrm>
          <a:prstGeom prst="line">
            <a:avLst/>
          </a:prstGeom>
          <a:noFill/>
          <a:ln w="6350">
            <a:solidFill>
              <a:srgbClr val="C8C8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286000"/>
            <a:ext cx="457200" cy="329184"/>
          </a:xfrm>
          <a:prstGeom prst="rect">
            <a:avLst/>
          </a:prstGeom>
          <a:solidFill>
            <a:srgbClr val="383832"/>
          </a:solidFill>
          <a:ln w="12700">
            <a:solidFill>
              <a:srgbClr val="3838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286000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FC4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22402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Architecture deep-dive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303520" y="22402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7A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Backend · Frontend · DB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660904"/>
            <a:ext cx="8229600" cy="0"/>
          </a:xfrm>
          <a:prstGeom prst="line">
            <a:avLst/>
          </a:prstGeom>
          <a:noFill/>
          <a:ln w="6350">
            <a:solidFill>
              <a:srgbClr val="C8C8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743200"/>
            <a:ext cx="457200" cy="329184"/>
          </a:xfrm>
          <a:prstGeom prst="rect">
            <a:avLst/>
          </a:prstGeom>
          <a:solidFill>
            <a:srgbClr val="383832"/>
          </a:solidFill>
          <a:ln w="12700">
            <a:solidFill>
              <a:srgbClr val="3838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743200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FC4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26974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AI pillars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303520" y="26974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7A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13-step pipeline · OCR · Matching · Eval · Agent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118104"/>
            <a:ext cx="8229600" cy="0"/>
          </a:xfrm>
          <a:prstGeom prst="line">
            <a:avLst/>
          </a:prstGeom>
          <a:noFill/>
          <a:ln w="6350">
            <a:solidFill>
              <a:srgbClr val="C8C8B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200400"/>
            <a:ext cx="457200" cy="329184"/>
          </a:xfrm>
          <a:prstGeom prst="rect">
            <a:avLst/>
          </a:prstGeom>
          <a:solidFill>
            <a:srgbClr val="383832"/>
          </a:solidFill>
          <a:ln w="12700">
            <a:solidFill>
              <a:srgbClr val="3838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200400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FC4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31546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Ops &amp; safety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303520" y="31546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7A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Cost · security · concurrency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575304"/>
            <a:ext cx="8229600" cy="0"/>
          </a:xfrm>
          <a:prstGeom prst="line">
            <a:avLst/>
          </a:prstGeom>
          <a:noFill/>
          <a:ln w="6350">
            <a:solidFill>
              <a:srgbClr val="C8C8B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657600"/>
            <a:ext cx="457200" cy="329184"/>
          </a:xfrm>
          <a:prstGeom prst="rect">
            <a:avLst/>
          </a:prstGeom>
          <a:solidFill>
            <a:srgbClr val="383832"/>
          </a:solidFill>
          <a:ln w="12700">
            <a:solidFill>
              <a:srgbClr val="38383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657600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FC4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97280" y="36118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Future roadmap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303520" y="36118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7A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SharePoint comms · Templates · Agentic OS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4032504"/>
            <a:ext cx="8229600" cy="0"/>
          </a:xfrm>
          <a:prstGeom prst="line">
            <a:avLst/>
          </a:prstGeom>
          <a:noFill/>
          <a:ln w="6350">
            <a:solidFill>
              <a:srgbClr val="C8C8B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4114800"/>
            <a:ext cx="457200" cy="329184"/>
          </a:xfrm>
          <a:prstGeom prst="rect">
            <a:avLst/>
          </a:prstGeom>
          <a:solidFill>
            <a:srgbClr val="383832"/>
          </a:solidFill>
          <a:ln w="12700">
            <a:solidFill>
              <a:srgbClr val="38383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114800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FC4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097280" y="40690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Rollout &amp; risks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303520" y="40690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7A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Phasing, governance, success metrics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7A7A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PULSE  ·  PEOPLE · UPDATES · LIFECYCLE · SOURCING · ENGAGEMENT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229600" y="484632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7A7A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 / 25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F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FC40"/>
          </a:solidFill>
          <a:ln w="12700">
            <a:solidFill>
              <a:srgbClr val="3838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76656" y="36576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-100" kern="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is PULSE?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7A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multi-tenant org operating system — built for hiring, but growing into the org's heartbeat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spc="-50" kern="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 end-to-end </a:t>
            </a:r>
            <a:pPr indent="0" marL="0">
              <a:buNone/>
            </a:pPr>
            <a:r>
              <a:rPr lang="en-US" sz="1900" b="1" spc="-50" kern="0" dirty="0">
                <a:solidFill>
                  <a:srgbClr val="0075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org platform</a:t>
            </a:r>
            <a:pPr indent="0" marL="0">
              <a:buNone/>
            </a:pPr>
            <a:r>
              <a:rPr lang="en-US" sz="1900" spc="-50" kern="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— AI hiring + internal comms + job posting + broadcast + candidate matching + HR Brain chatbot — under one roof.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12064" y="3026664"/>
            <a:ext cx="1673352" cy="1417320"/>
          </a:xfrm>
          <a:prstGeom prst="rect">
            <a:avLst/>
          </a:prstGeom>
          <a:solidFill>
            <a:srgbClr val="383832"/>
          </a:solidFill>
          <a:ln w="12700">
            <a:solidFill>
              <a:srgbClr val="38383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971800"/>
            <a:ext cx="1673352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38383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971800"/>
            <a:ext cx="1673352" cy="384048"/>
          </a:xfrm>
          <a:prstGeom prst="rect">
            <a:avLst/>
          </a:prstGeom>
          <a:solidFill>
            <a:srgbClr val="383832"/>
          </a:solidFill>
          <a:ln w="12700">
            <a:solidFill>
              <a:srgbClr val="3838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971800"/>
            <a:ext cx="1673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FC4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48640" y="3429000"/>
            <a:ext cx="1490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PEOPLE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721608"/>
            <a:ext cx="14904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A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Candidates, employees, talent pools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221992" y="3026664"/>
            <a:ext cx="1673352" cy="1417320"/>
          </a:xfrm>
          <a:prstGeom prst="rect">
            <a:avLst/>
          </a:prstGeom>
          <a:solidFill>
            <a:srgbClr val="383832"/>
          </a:solidFill>
          <a:ln w="12700">
            <a:solidFill>
              <a:srgbClr val="38383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67128" y="2971800"/>
            <a:ext cx="1673352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38383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167128" y="2971800"/>
            <a:ext cx="1673352" cy="384048"/>
          </a:xfrm>
          <a:prstGeom prst="rect">
            <a:avLst/>
          </a:prstGeom>
          <a:solidFill>
            <a:srgbClr val="383832"/>
          </a:solidFill>
          <a:ln w="12700">
            <a:solidFill>
              <a:srgbClr val="3838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67128" y="2971800"/>
            <a:ext cx="1673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FC4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258568" y="3429000"/>
            <a:ext cx="1490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UPDATES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258568" y="3721608"/>
            <a:ext cx="14904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A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Internal comms, broadcasts, alerts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931920" y="3026664"/>
            <a:ext cx="1673352" cy="1417320"/>
          </a:xfrm>
          <a:prstGeom prst="rect">
            <a:avLst/>
          </a:prstGeom>
          <a:solidFill>
            <a:srgbClr val="383832"/>
          </a:solidFill>
          <a:ln w="12700">
            <a:solidFill>
              <a:srgbClr val="38383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77056" y="2971800"/>
            <a:ext cx="1673352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38383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77056" y="2971800"/>
            <a:ext cx="1673352" cy="384048"/>
          </a:xfrm>
          <a:prstGeom prst="rect">
            <a:avLst/>
          </a:prstGeom>
          <a:solidFill>
            <a:srgbClr val="383832"/>
          </a:solidFill>
          <a:ln w="12700">
            <a:solidFill>
              <a:srgbClr val="3838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77056" y="2971800"/>
            <a:ext cx="1673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FC4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968496" y="3429000"/>
            <a:ext cx="1490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LIFECYCLE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968496" y="3721608"/>
            <a:ext cx="14904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A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Hiring → onboarding → offboarding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641848" y="3026664"/>
            <a:ext cx="1673352" cy="1417320"/>
          </a:xfrm>
          <a:prstGeom prst="rect">
            <a:avLst/>
          </a:prstGeom>
          <a:solidFill>
            <a:srgbClr val="383832"/>
          </a:solidFill>
          <a:ln w="12700">
            <a:solidFill>
              <a:srgbClr val="38383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586984" y="2971800"/>
            <a:ext cx="1673352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38383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586984" y="2971800"/>
            <a:ext cx="1673352" cy="384048"/>
          </a:xfrm>
          <a:prstGeom prst="rect">
            <a:avLst/>
          </a:prstGeom>
          <a:solidFill>
            <a:srgbClr val="383832"/>
          </a:solidFill>
          <a:ln w="12700">
            <a:solidFill>
              <a:srgbClr val="38383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86984" y="2971800"/>
            <a:ext cx="1673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FC4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5678424" y="3429000"/>
            <a:ext cx="1490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SOURCING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678424" y="3721608"/>
            <a:ext cx="14904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A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JD → match → interview → offer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351776" y="3026664"/>
            <a:ext cx="1673352" cy="1417320"/>
          </a:xfrm>
          <a:prstGeom prst="rect">
            <a:avLst/>
          </a:prstGeom>
          <a:solidFill>
            <a:srgbClr val="383832"/>
          </a:solidFill>
          <a:ln w="12700">
            <a:solidFill>
              <a:srgbClr val="38383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296912" y="2971800"/>
            <a:ext cx="1673352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38383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296912" y="2971800"/>
            <a:ext cx="1673352" cy="384048"/>
          </a:xfrm>
          <a:prstGeom prst="rect">
            <a:avLst/>
          </a:prstGeom>
          <a:solidFill>
            <a:srgbClr val="383832"/>
          </a:solidFill>
          <a:ln w="12700">
            <a:solidFill>
              <a:srgbClr val="38383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96912" y="2971800"/>
            <a:ext cx="1673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FC4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7388352" y="3429000"/>
            <a:ext cx="1490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ENGAGEMENT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388352" y="3721608"/>
            <a:ext cx="14904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A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Surveys, feedback, retention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7A7A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PULSE  ·  PEOPLE · UPDATES · LIFECYCLE · SOURCING · ENGAGEMENT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8229600" y="484632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7A7A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 / 25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F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FC40"/>
          </a:solidFill>
          <a:ln w="12700">
            <a:solidFill>
              <a:srgbClr val="3838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76656" y="36576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POSITIONING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-100" kern="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leap we're making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7A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From a GPT CV/resume parser to an agentic, end-to-end org OS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12064" y="1837944"/>
            <a:ext cx="4114800" cy="2743200"/>
          </a:xfrm>
          <a:prstGeom prst="rect">
            <a:avLst/>
          </a:prstGeom>
          <a:solidFill>
            <a:srgbClr val="383832"/>
          </a:solidFill>
          <a:ln w="12700">
            <a:solidFill>
              <a:srgbClr val="3838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783080"/>
            <a:ext cx="411480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3838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9476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7A7A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WAS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167128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-100" kern="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CV / Resume</a:t>
            </a:r>
            <a:endParaRPr lang="en-US" sz="2600" dirty="0"/>
          </a:p>
          <a:p>
            <a:pPr indent="0" marL="0">
              <a:buNone/>
            </a:pPr>
            <a:r>
              <a:rPr lang="en-US" sz="2600" b="1" spc="-100" kern="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GPT Agent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40080" y="3200400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One-shot prompts on a CV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Manual hand-offs between tools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Chat answers, no actions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Single workflow (hiring only)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Single language, single source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26864" y="2788920"/>
            <a:ext cx="384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FC4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→</a:t>
            </a:r>
            <a:endParaRPr lang="en-US" sz="4400" dirty="0"/>
          </a:p>
        </p:txBody>
      </p:sp>
      <p:sp>
        <p:nvSpPr>
          <p:cNvPr id="12" name="Shape 10"/>
          <p:cNvSpPr/>
          <p:nvPr/>
        </p:nvSpPr>
        <p:spPr>
          <a:xfrm>
            <a:off x="5129784" y="1837944"/>
            <a:ext cx="3611880" cy="2743200"/>
          </a:xfrm>
          <a:prstGeom prst="rect">
            <a:avLst/>
          </a:prstGeom>
          <a:solidFill>
            <a:srgbClr val="383832"/>
          </a:solidFill>
          <a:ln w="12700">
            <a:solidFill>
              <a:srgbClr val="38383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74920" y="1783080"/>
            <a:ext cx="3611880" cy="2743200"/>
          </a:xfrm>
          <a:prstGeom prst="rect">
            <a:avLst/>
          </a:prstGeom>
          <a:solidFill>
            <a:srgbClr val="383832"/>
          </a:solidFill>
          <a:ln w="19050">
            <a:solidFill>
              <a:srgbClr val="3838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57800" y="19476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0FC4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IS BECOMING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257800" y="2167128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-100" kern="0" dirty="0">
                <a:solidFill>
                  <a:srgbClr val="FEFFD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Agentic</a:t>
            </a:r>
            <a:endParaRPr lang="en-US" sz="2600" dirty="0"/>
          </a:p>
          <a:p>
            <a:pPr indent="0" marL="0">
              <a:buNone/>
            </a:pPr>
            <a:r>
              <a:rPr lang="en-US" sz="2600" b="1" spc="-100" kern="0" dirty="0">
                <a:solidFill>
                  <a:srgbClr val="FEFFD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Org OS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5257800" y="3200400"/>
            <a:ext cx="3246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FEFFD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Multi-step tool-using agents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FEFFD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Memory + recall across turns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FEFFD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Acts on behalf of recruiters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FEFFD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Hiring + comms + templates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FEFFD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Multi-language, multi-source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7A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Same data plane. Smarter control plane. Wider surface.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7A7A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PULSE  ·  PEOPLE · UPDATES · LIFECYCLE · SOURCING · ENGAGEMENT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484632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7A7A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 / 25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3838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292608" cy="292608"/>
          </a:xfrm>
          <a:prstGeom prst="rect">
            <a:avLst/>
          </a:prstGeom>
          <a:solidFill>
            <a:srgbClr val="00FC40"/>
          </a:solidFill>
          <a:ln w="12700">
            <a:solidFill>
              <a:srgbClr val="00FC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42062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0FC4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PART 01  ·  CURRENT STATE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3200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0" b="1" spc="-600" kern="0" dirty="0">
                <a:solidFill>
                  <a:srgbClr val="00FC4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15000" dirty="0"/>
          </a:p>
        </p:txBody>
      </p:sp>
      <p:sp>
        <p:nvSpPr>
          <p:cNvPr id="5" name="Text 3"/>
          <p:cNvSpPr/>
          <p:nvPr/>
        </p:nvSpPr>
        <p:spPr>
          <a:xfrm>
            <a:off x="4023360" y="192024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spc="-200" kern="0" dirty="0">
                <a:solidFill>
                  <a:srgbClr val="FEFFD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TODAY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023360" y="2834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0FC4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we've shipped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023360" y="329184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FEFFD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44 tables · 165+ endpoints · 13-step pipeline · 11-tool agent · 30-case eval gate · brutalist UI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138160" y="46177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00FC4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05 / 25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EFF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FC40"/>
          </a:solidFill>
          <a:ln w="12700">
            <a:solidFill>
              <a:srgbClr val="3838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76656" y="36576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PLATFORM MAP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-100" kern="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How the pieces fit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7A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Three layers · one runtime · one data plane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12064" y="1837944"/>
            <a:ext cx="8229600" cy="777240"/>
          </a:xfrm>
          <a:prstGeom prst="rect">
            <a:avLst/>
          </a:prstGeom>
          <a:solidFill>
            <a:srgbClr val="383832"/>
          </a:solidFill>
          <a:ln w="12700">
            <a:solidFill>
              <a:srgbClr val="3838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783080"/>
            <a:ext cx="822960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38383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783080"/>
            <a:ext cx="164592" cy="777240"/>
          </a:xfrm>
          <a:prstGeom prst="rect">
            <a:avLst/>
          </a:prstGeom>
          <a:solidFill>
            <a:srgbClr val="00FC40"/>
          </a:solidFill>
          <a:ln w="12700">
            <a:solidFill>
              <a:srgbClr val="00FC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178308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FRONTEND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240280" y="1783080"/>
            <a:ext cx="6355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SvelteKit 5  ·  Svelte Runes  ·  Tailwind 4  ·  ECharts  ·  Brutalist design system  ·  20+ pages  ·  13.4k LOC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12064" y="2752344"/>
            <a:ext cx="8229600" cy="960120"/>
          </a:xfrm>
          <a:prstGeom prst="rect">
            <a:avLst/>
          </a:prstGeom>
          <a:solidFill>
            <a:srgbClr val="383832"/>
          </a:solidFill>
          <a:ln w="12700">
            <a:solidFill>
              <a:srgbClr val="38383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697480"/>
            <a:ext cx="822960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38383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697480"/>
            <a:ext cx="164592" cy="960120"/>
          </a:xfrm>
          <a:prstGeom prst="rect">
            <a:avLst/>
          </a:prstGeom>
          <a:solidFill>
            <a:srgbClr val="007518"/>
          </a:solidFill>
          <a:ln w="12700">
            <a:solidFill>
              <a:srgbClr val="00751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2697480"/>
            <a:ext cx="1463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BACKEND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240280" y="2697480"/>
            <a:ext cx="6355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FastAPI · Python 3.11 · 22 route modules · 165+ endpoints · 11k LOC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core/  — config · database · auth · cv_pipeline · cv_parser · cache · settings · migrations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agents/ — hr_agent (Agno) · session · memory · 11 tool providers · 30-case eval gate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12064" y="3849624"/>
            <a:ext cx="8229600" cy="777240"/>
          </a:xfrm>
          <a:prstGeom prst="rect">
            <a:avLst/>
          </a:prstGeom>
          <a:solidFill>
            <a:srgbClr val="383832"/>
          </a:solidFill>
          <a:ln w="12700">
            <a:solidFill>
              <a:srgbClr val="38383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794760"/>
            <a:ext cx="822960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38383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794760"/>
            <a:ext cx="164592" cy="77724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379476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DATA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40280" y="3794760"/>
            <a:ext cx="6355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PostgreSQL 18 + pgvector  ·  44 tables  ·  35 additive migrations (sha256-tracked)  ·  Redis cache  ·  /data/cvs (EFS in prod)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7A7A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PULSE  ·  PEOPLE · UPDATES · LIFECYCLE · SOURCING · ENGAGEMENT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229600" y="484632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7A7A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06 / 25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EFF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FC40"/>
          </a:solidFill>
          <a:ln w="12700">
            <a:solidFill>
              <a:srgbClr val="3838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76656" y="36576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TECH STACK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-100" kern="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Built for boring reliability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7A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Battle-tested choices, no exotic bets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12064" y="1837944"/>
            <a:ext cx="2697480" cy="1325880"/>
          </a:xfrm>
          <a:prstGeom prst="rect">
            <a:avLst/>
          </a:prstGeom>
          <a:solidFill>
            <a:srgbClr val="383832"/>
          </a:solidFill>
          <a:ln w="12700">
            <a:solidFill>
              <a:srgbClr val="3838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783080"/>
            <a:ext cx="269748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38383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783080"/>
            <a:ext cx="274320" cy="274320"/>
          </a:xfrm>
          <a:prstGeom prst="rect">
            <a:avLst/>
          </a:prstGeom>
          <a:solidFill>
            <a:srgbClr val="383832"/>
          </a:solidFill>
          <a:ln w="12700">
            <a:solidFill>
              <a:srgbClr val="3838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783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FC4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◆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18288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A7A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BACKEND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21792" y="21488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-50" kern="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FastAPI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21792" y="256032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5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Python 3.11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21792" y="278892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7A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uvicorn × 4 workers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300984" y="1837944"/>
            <a:ext cx="2697480" cy="1325880"/>
          </a:xfrm>
          <a:prstGeom prst="rect">
            <a:avLst/>
          </a:prstGeom>
          <a:solidFill>
            <a:srgbClr val="383832"/>
          </a:solidFill>
          <a:ln w="12700">
            <a:solidFill>
              <a:srgbClr val="38383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46120" y="1783080"/>
            <a:ext cx="269748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38383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46120" y="1783080"/>
            <a:ext cx="274320" cy="274320"/>
          </a:xfrm>
          <a:prstGeom prst="rect">
            <a:avLst/>
          </a:prstGeom>
          <a:solidFill>
            <a:srgbClr val="383832"/>
          </a:solidFill>
          <a:ln w="12700">
            <a:solidFill>
              <a:srgbClr val="3838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46120" y="1783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FC4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◆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11880" y="18288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A7A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FRONTEND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410712" y="21488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-50" kern="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SvelteKit 5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410712" y="256032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5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Svelte Runes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410712" y="278892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7A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Tailwind CSS 4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089904" y="1837944"/>
            <a:ext cx="2697480" cy="1325880"/>
          </a:xfrm>
          <a:prstGeom prst="rect">
            <a:avLst/>
          </a:prstGeom>
          <a:solidFill>
            <a:srgbClr val="383832"/>
          </a:solidFill>
          <a:ln w="12700">
            <a:solidFill>
              <a:srgbClr val="38383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35040" y="1783080"/>
            <a:ext cx="269748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38383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35040" y="1783080"/>
            <a:ext cx="274320" cy="274320"/>
          </a:xfrm>
          <a:prstGeom prst="rect">
            <a:avLst/>
          </a:prstGeom>
          <a:solidFill>
            <a:srgbClr val="383832"/>
          </a:solidFill>
          <a:ln w="12700">
            <a:solidFill>
              <a:srgbClr val="38383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35040" y="1783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FC4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◆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0" y="18288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A7A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DATABASE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199632" y="21488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-50" kern="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PostgreSQL 18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199632" y="256032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5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pgvector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199632" y="278892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7A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Pool 5–20 / worker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12064" y="3255264"/>
            <a:ext cx="2697480" cy="1325880"/>
          </a:xfrm>
          <a:prstGeom prst="rect">
            <a:avLst/>
          </a:prstGeom>
          <a:solidFill>
            <a:srgbClr val="383832"/>
          </a:solidFill>
          <a:ln w="12700">
            <a:solidFill>
              <a:srgbClr val="38383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3200400"/>
            <a:ext cx="269748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38383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" y="3200400"/>
            <a:ext cx="274320" cy="274320"/>
          </a:xfrm>
          <a:prstGeom prst="rect">
            <a:avLst/>
          </a:prstGeom>
          <a:solidFill>
            <a:srgbClr val="383832"/>
          </a:solidFill>
          <a:ln w="12700">
            <a:solidFill>
              <a:srgbClr val="38383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3200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FC4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◆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22960" y="32461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A7A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LLM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21792" y="356616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-50" kern="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OpenRouter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621792" y="397764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5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Gemini-3-Flash + GPT-5.4-mini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21792" y="420624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7A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Claude Opus 4.7 (verifier)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300984" y="3255264"/>
            <a:ext cx="2697480" cy="1325880"/>
          </a:xfrm>
          <a:prstGeom prst="rect">
            <a:avLst/>
          </a:prstGeom>
          <a:solidFill>
            <a:srgbClr val="383832"/>
          </a:solidFill>
          <a:ln w="12700">
            <a:solidFill>
              <a:srgbClr val="38383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246120" y="3200400"/>
            <a:ext cx="269748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38383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46120" y="3200400"/>
            <a:ext cx="274320" cy="274320"/>
          </a:xfrm>
          <a:prstGeom prst="rect">
            <a:avLst/>
          </a:prstGeom>
          <a:solidFill>
            <a:srgbClr val="383832"/>
          </a:solidFill>
          <a:ln w="12700">
            <a:solidFill>
              <a:srgbClr val="38383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46120" y="3200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FC4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◆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611880" y="32461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A7A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OCR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410712" y="356616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-50" kern="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PaddleOCR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3410712" y="397764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5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Vision LLM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410712" y="420624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7A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Tesseract fallback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089904" y="3255264"/>
            <a:ext cx="2697480" cy="1325880"/>
          </a:xfrm>
          <a:prstGeom prst="rect">
            <a:avLst/>
          </a:prstGeom>
          <a:solidFill>
            <a:srgbClr val="383832"/>
          </a:solidFill>
          <a:ln w="12700">
            <a:solidFill>
              <a:srgbClr val="38383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035040" y="3200400"/>
            <a:ext cx="269748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38383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035040" y="3200400"/>
            <a:ext cx="274320" cy="274320"/>
          </a:xfrm>
          <a:prstGeom prst="rect">
            <a:avLst/>
          </a:prstGeom>
          <a:solidFill>
            <a:srgbClr val="383832"/>
          </a:solidFill>
          <a:ln w="12700">
            <a:solidFill>
              <a:srgbClr val="38383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035040" y="3200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FC4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◆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400800" y="32461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A7A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DEPLOY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199632" y="356616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-50" kern="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Docker Compose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6199632" y="397764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5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ECS Fargate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199632" y="420624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7A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GitHub Actions OIDC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7A7A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PULSE  ·  PEOPLE · UPDATES · LIFECYCLE · SOURCING · ENGAGEMENT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8229600" y="484632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7A7A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07 / 25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EFF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FC40"/>
          </a:solidFill>
          <a:ln w="12700">
            <a:solidFill>
              <a:srgbClr val="3838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76656" y="36576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BACKEND DEEP-DIVE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-100" kern="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FastAPI · 22 route modules · 11k LOC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7A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core/ + agents/ + routes/ — clean separation, single entry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12064" y="1837944"/>
            <a:ext cx="3200400" cy="2743200"/>
          </a:xfrm>
          <a:prstGeom prst="rect">
            <a:avLst/>
          </a:prstGeom>
          <a:solidFill>
            <a:srgbClr val="383832"/>
          </a:solidFill>
          <a:ln w="12700">
            <a:solidFill>
              <a:srgbClr val="3838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783080"/>
            <a:ext cx="3200400" cy="2743200"/>
          </a:xfrm>
          <a:prstGeom prst="rect">
            <a:avLst/>
          </a:prstGeom>
          <a:solidFill>
            <a:srgbClr val="383832"/>
          </a:solidFill>
          <a:ln w="19050">
            <a:solidFill>
              <a:srgbClr val="3838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92024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spc="-300" kern="0" dirty="0">
                <a:solidFill>
                  <a:srgbClr val="00FC4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165+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640080" y="26974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EFFD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API ENDPOINTS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2926080"/>
            <a:ext cx="2834640" cy="0"/>
          </a:xfrm>
          <a:prstGeom prst="line">
            <a:avLst/>
          </a:prstGeom>
          <a:noFill/>
          <a:ln w="19050">
            <a:solidFill>
              <a:srgbClr val="00FC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0632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100" kern="0" dirty="0">
                <a:solidFill>
                  <a:srgbClr val="00FC4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40080" y="358444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EFFD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ROUTE MODULES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103120" y="30632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100" kern="0" dirty="0">
                <a:solidFill>
                  <a:srgbClr val="00FC4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27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103120" y="358444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EFFD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PYTEST TESTS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40080" y="402336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spc="100" kern="0" dirty="0">
                <a:solidFill>
                  <a:srgbClr val="FEFFD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11k LOC  ·  Python 3.11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895344" y="1837944"/>
            <a:ext cx="4846320" cy="841248"/>
          </a:xfrm>
          <a:prstGeom prst="rect">
            <a:avLst/>
          </a:prstGeom>
          <a:solidFill>
            <a:srgbClr val="383832"/>
          </a:solidFill>
          <a:ln w="12700">
            <a:solidFill>
              <a:srgbClr val="38383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40480" y="1783080"/>
            <a:ext cx="4846320" cy="841248"/>
          </a:xfrm>
          <a:prstGeom prst="rect">
            <a:avLst/>
          </a:prstGeom>
          <a:solidFill>
            <a:srgbClr val="FFFFFF"/>
          </a:solidFill>
          <a:ln w="19050">
            <a:solidFill>
              <a:srgbClr val="3838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77640" y="1847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5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routes/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977640" y="2112264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auth · candidates · positions · matching · evaluation · chat · jd_repo · interviews · screening · offers · emails · analytics · notifications · bulk · careers · pools · duplicates · saved_searches · export · eeo · automations · billing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895344" y="2770632"/>
            <a:ext cx="4846320" cy="841248"/>
          </a:xfrm>
          <a:prstGeom prst="rect">
            <a:avLst/>
          </a:prstGeom>
          <a:solidFill>
            <a:srgbClr val="383832"/>
          </a:solidFill>
          <a:ln w="12700">
            <a:solidFill>
              <a:srgbClr val="38383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0480" y="2715768"/>
            <a:ext cx="4846320" cy="841248"/>
          </a:xfrm>
          <a:prstGeom prst="rect">
            <a:avLst/>
          </a:prstGeom>
          <a:solidFill>
            <a:srgbClr val="FFFFFF"/>
          </a:solidFill>
          <a:ln w="19050">
            <a:solidFill>
              <a:srgbClr val="3838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77640" y="27797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5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core/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977640" y="3044952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config (LLM_GATE) · database (pool) · auth (JWT+legacy) · cv_pipeline (13 steps) · cv_parser (OCR_GATE) · cost_cap · rate_limit · cache · embed_cache · tool_cache · migrations · settings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895344" y="3703320"/>
            <a:ext cx="4846320" cy="841248"/>
          </a:xfrm>
          <a:prstGeom prst="rect">
            <a:avLst/>
          </a:prstGeom>
          <a:solidFill>
            <a:srgbClr val="383832"/>
          </a:solidFill>
          <a:ln w="12700">
            <a:solidFill>
              <a:srgbClr val="38383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40480" y="3648456"/>
            <a:ext cx="4846320" cy="841248"/>
          </a:xfrm>
          <a:prstGeom prst="rect">
            <a:avLst/>
          </a:prstGeom>
          <a:solidFill>
            <a:srgbClr val="FFFFFF"/>
          </a:solidFill>
          <a:ln w="19050">
            <a:solidFill>
              <a:srgbClr val="38383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977640" y="37124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5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agents/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977640" y="397764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hr_agent.arun() async generator · session ($ cap) · memory (pgvector) · 5 providers (candidate · position · brain · analytics · email) · eval/ (golden 30 + run_eval, CI gate avg≥4.0)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7A7A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PULSE  ·  PEOPLE · UPDATES · LIFECYCLE · SOURCING · ENGAGEMENT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8229600" y="484632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7A7A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08 / 25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EFF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FC40"/>
          </a:solidFill>
          <a:ln w="12700">
            <a:solidFill>
              <a:srgbClr val="3838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76656" y="36576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FRONTEND DEEP-DIVE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-100" kern="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SvelteKit 5 · Runes · Brutalist UI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7A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20+ Svelte files · 13,400 LOC · designed-on-purpose, not styled-after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12064" y="1837944"/>
            <a:ext cx="4023360" cy="2743200"/>
          </a:xfrm>
          <a:prstGeom prst="rect">
            <a:avLst/>
          </a:prstGeom>
          <a:solidFill>
            <a:srgbClr val="383832"/>
          </a:solidFill>
          <a:ln w="12700">
            <a:solidFill>
              <a:srgbClr val="3838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783080"/>
            <a:ext cx="402336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3838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920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A7A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DESIGN SYSTEM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2194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Brutalist / Industrial / Newspaper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2697480"/>
            <a:ext cx="777240" cy="502920"/>
          </a:xfrm>
          <a:prstGeom prst="rect">
            <a:avLst/>
          </a:prstGeom>
          <a:solidFill>
            <a:srgbClr val="FEFFD6"/>
          </a:solidFill>
          <a:ln w="12700">
            <a:solidFill>
              <a:srgbClr val="3838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246120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#feffd6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554480" y="2697480"/>
            <a:ext cx="777240" cy="502920"/>
          </a:xfrm>
          <a:prstGeom prst="rect">
            <a:avLst/>
          </a:prstGeom>
          <a:solidFill>
            <a:srgbClr val="383832"/>
          </a:solidFill>
          <a:ln w="12700">
            <a:solidFill>
              <a:srgbClr val="3838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54480" y="3246120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#383832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2468880" y="2697480"/>
            <a:ext cx="777240" cy="502920"/>
          </a:xfrm>
          <a:prstGeom prst="rect">
            <a:avLst/>
          </a:prstGeom>
          <a:solidFill>
            <a:srgbClr val="00FC40"/>
          </a:solidFill>
          <a:ln w="12700">
            <a:solidFill>
              <a:srgbClr val="3838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68880" y="3246120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#00fc40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3383280" y="2697480"/>
            <a:ext cx="777240" cy="502920"/>
          </a:xfrm>
          <a:prstGeom prst="rect">
            <a:avLst/>
          </a:prstGeom>
          <a:solidFill>
            <a:srgbClr val="007518"/>
          </a:solidFill>
          <a:ln w="12700">
            <a:solidFill>
              <a:srgbClr val="3838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0" y="3246120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#007518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640080" y="352044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0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Space Grotesk everywhere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0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Zero border-radius (forced)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0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4px hard stamp shadows, no blur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0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Asymmetric ink borders (2/4 px)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0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ALL UPPERCASE labels, 0.05–0.1em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18304" y="1837944"/>
            <a:ext cx="4023360" cy="2743200"/>
          </a:xfrm>
          <a:prstGeom prst="rect">
            <a:avLst/>
          </a:prstGeom>
          <a:solidFill>
            <a:srgbClr val="383832"/>
          </a:solidFill>
          <a:ln w="12700">
            <a:solidFill>
              <a:srgbClr val="38383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1783080"/>
            <a:ext cx="402336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3838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1920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A7A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KEY PAGES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46320" y="221284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75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/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446520" y="221284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Positions grid + health scores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46320" y="248716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75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/candidates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446520" y="248716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CV repo · filters · bulk · compare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46320" y="276148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75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/candidates/[id]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446520" y="276148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LinkedIn-style profile · 7 tabs · split-pane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46320" y="303580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75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/positions/[slug]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446520" y="303580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Workspace · pipeline kanban · AI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46320" y="331012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75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/chat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446520" y="331012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HR Brain · SSE streaming · agent steps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846320" y="358444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75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/analytics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446520" y="358444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ECharts · funnel · DEI · cost · QoH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46320" y="385876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75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/billing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446520" y="385876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LLM cost ledger · admin only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46320" y="413308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75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/login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446520" y="413308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ACCESS_PORTAL · brutalist auth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7A7A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PULSE  ·  PEOPLE · UPDATES · LIFECYCLE · SOURCING · ENGAGEMENT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8229600" y="484632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7A7A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09 / 25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EFF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FC40"/>
          </a:solidFill>
          <a:ln w="12700">
            <a:solidFill>
              <a:srgbClr val="3838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76656" y="36576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DATABASE DEEP-DIVE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-100" kern="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PostgreSQL 18 + pgvector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7A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44 tables · 35 additive-only migrations · sha256-tracked, advisory-locked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12064" y="1837944"/>
            <a:ext cx="1965960" cy="1051560"/>
          </a:xfrm>
          <a:prstGeom prst="rect">
            <a:avLst/>
          </a:prstGeom>
          <a:solidFill>
            <a:srgbClr val="383832"/>
          </a:solidFill>
          <a:ln w="12700">
            <a:solidFill>
              <a:srgbClr val="3838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783080"/>
            <a:ext cx="196596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3838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87452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-200" kern="0" dirty="0">
                <a:solidFill>
                  <a:srgbClr val="0075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44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594360" y="254203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TABLES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660904" y="1837944"/>
            <a:ext cx="1965960" cy="1051560"/>
          </a:xfrm>
          <a:prstGeom prst="rect">
            <a:avLst/>
          </a:prstGeom>
          <a:solidFill>
            <a:srgbClr val="383832"/>
          </a:solidFill>
          <a:ln w="12700">
            <a:solidFill>
              <a:srgbClr val="38383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06040" y="1783080"/>
            <a:ext cx="196596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3838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0" y="187452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-200" kern="0" dirty="0">
                <a:solidFill>
                  <a:srgbClr val="0075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35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2743200" y="254203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MIGRATIONS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09744" y="1837944"/>
            <a:ext cx="1965960" cy="1051560"/>
          </a:xfrm>
          <a:prstGeom prst="rect">
            <a:avLst/>
          </a:prstGeom>
          <a:solidFill>
            <a:srgbClr val="383832"/>
          </a:solidFill>
          <a:ln w="12700">
            <a:solidFill>
              <a:srgbClr val="38383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0" y="1783080"/>
            <a:ext cx="196596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3838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187452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-200" kern="0" dirty="0">
                <a:solidFill>
                  <a:srgbClr val="0075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1536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4892040" y="254203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PGVECTOR DIM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958584" y="1837944"/>
            <a:ext cx="1965960" cy="1051560"/>
          </a:xfrm>
          <a:prstGeom prst="rect">
            <a:avLst/>
          </a:prstGeom>
          <a:solidFill>
            <a:srgbClr val="383832"/>
          </a:solidFill>
          <a:ln w="12700">
            <a:solidFill>
              <a:srgbClr val="38383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03720" y="1783080"/>
            <a:ext cx="196596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3838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0" y="187452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-200" kern="0" dirty="0">
                <a:solidFill>
                  <a:srgbClr val="0075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100</a:t>
            </a:r>
            <a:endParaRPr lang="en-US" sz="3800" dirty="0"/>
          </a:p>
        </p:txBody>
      </p:sp>
      <p:sp>
        <p:nvSpPr>
          <p:cNvPr id="21" name="Text 19"/>
          <p:cNvSpPr/>
          <p:nvPr/>
        </p:nvSpPr>
        <p:spPr>
          <a:xfrm>
            <a:off x="7040880" y="254203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MAX CONNS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12064" y="3026664"/>
            <a:ext cx="8229600" cy="1554480"/>
          </a:xfrm>
          <a:prstGeom prst="rect">
            <a:avLst/>
          </a:prstGeom>
          <a:solidFill>
            <a:srgbClr val="383832"/>
          </a:solidFill>
          <a:ln w="12700">
            <a:solidFill>
              <a:srgbClr val="38383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2971800"/>
            <a:ext cx="8229600" cy="1554480"/>
          </a:xfrm>
          <a:prstGeom prst="rect">
            <a:avLst/>
          </a:prstGeom>
          <a:solidFill>
            <a:srgbClr val="383832"/>
          </a:solidFill>
          <a:ln w="19050">
            <a:solidFill>
              <a:srgbClr val="38383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108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FC4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HARD RULE — ADDITIVE ONLY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" y="3429000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150" b="1" dirty="0">
                <a:solidFill>
                  <a:srgbClr val="B850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DROP COLUMN · DROP TABLE · RENAME · ALTER TYPE · TRUNCATE</a:t>
            </a: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FEFFD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all blocked by core/migrations.py guard. Override flag exists but requires explicit user approval.</a:t>
            </a: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</a:t>
            </a: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b="1" dirty="0">
                <a:solidFill>
                  <a:srgbClr val="00FC4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Result: </a:t>
            </a:r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FEFFD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every old client keeps working. Schema drifts forward only. No 3am rollback panic.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7A7A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PULSE  ·  PEOPLE · UPDATES · LIFECYCLE · SOURCING · ENGAGEMENT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484632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7A7A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10 / 25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EFF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FC40"/>
          </a:solidFill>
          <a:ln w="12700">
            <a:solidFill>
              <a:srgbClr val="3838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76656" y="36576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AI PILLAR · CV PIPELINE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-100" kern="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end-to-end CV pipeline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7A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13-step core + ENHANCE pre-step + AI SUMMARY post-step · all traced in pipeline_trace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12064" y="1837944"/>
            <a:ext cx="1627632" cy="713232"/>
          </a:xfrm>
          <a:prstGeom prst="rect">
            <a:avLst/>
          </a:prstGeom>
          <a:solidFill>
            <a:srgbClr val="383832"/>
          </a:solidFill>
          <a:ln w="12700">
            <a:solidFill>
              <a:srgbClr val="3838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783080"/>
            <a:ext cx="1627632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3838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847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5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075688"/>
            <a:ext cx="14447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ENHANCE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286000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Pillow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203704" y="1837944"/>
            <a:ext cx="1627632" cy="713232"/>
          </a:xfrm>
          <a:prstGeom prst="rect">
            <a:avLst/>
          </a:prstGeom>
          <a:solidFill>
            <a:srgbClr val="383832"/>
          </a:solidFill>
          <a:ln w="12700">
            <a:solidFill>
              <a:srgbClr val="38383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48840" y="1783080"/>
            <a:ext cx="1627632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3838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40280" y="1847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5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240280" y="2075688"/>
            <a:ext cx="14447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CLASSIFY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240280" y="2286000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LITE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895344" y="1837944"/>
            <a:ext cx="1627632" cy="713232"/>
          </a:xfrm>
          <a:prstGeom prst="rect">
            <a:avLst/>
          </a:prstGeom>
          <a:solidFill>
            <a:srgbClr val="383832"/>
          </a:solidFill>
          <a:ln w="12700">
            <a:solidFill>
              <a:srgbClr val="38383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40480" y="1783080"/>
            <a:ext cx="1627632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3838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31920" y="1847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5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931920" y="2075688"/>
            <a:ext cx="14447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EXTRACT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931920" y="2286000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OCR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586984" y="1837944"/>
            <a:ext cx="1627632" cy="713232"/>
          </a:xfrm>
          <a:prstGeom prst="rect">
            <a:avLst/>
          </a:prstGeom>
          <a:solidFill>
            <a:srgbClr val="383832"/>
          </a:solidFill>
          <a:ln w="12700">
            <a:solidFill>
              <a:srgbClr val="38383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532120" y="1783080"/>
            <a:ext cx="1627632" cy="713232"/>
          </a:xfrm>
          <a:prstGeom prst="rect">
            <a:avLst/>
          </a:prstGeom>
          <a:solidFill>
            <a:srgbClr val="00FC40"/>
          </a:solidFill>
          <a:ln w="19050">
            <a:solidFill>
              <a:srgbClr val="3838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23560" y="1847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5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2.5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623560" y="2075688"/>
            <a:ext cx="14447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VERIFY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623560" y="2286000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OPUS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278624" y="1837944"/>
            <a:ext cx="1627632" cy="713232"/>
          </a:xfrm>
          <a:prstGeom prst="rect">
            <a:avLst/>
          </a:prstGeom>
          <a:solidFill>
            <a:srgbClr val="383832"/>
          </a:solidFill>
          <a:ln w="12700">
            <a:solidFill>
              <a:srgbClr val="38383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223760" y="1783080"/>
            <a:ext cx="1627632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38383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0" y="1847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5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315200" y="2075688"/>
            <a:ext cx="14447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SCREENSHOTS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315200" y="2286000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PyMuPDF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12064" y="2615184"/>
            <a:ext cx="1627632" cy="713232"/>
          </a:xfrm>
          <a:prstGeom prst="rect">
            <a:avLst/>
          </a:prstGeom>
          <a:solidFill>
            <a:srgbClr val="383832"/>
          </a:solidFill>
          <a:ln w="12700">
            <a:solidFill>
              <a:srgbClr val="38383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" y="2560320"/>
            <a:ext cx="1627632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38383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26243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5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48640" y="2852928"/>
            <a:ext cx="14447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STRUCTURE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48640" y="3063240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FLASH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2203704" y="2615184"/>
            <a:ext cx="1627632" cy="713232"/>
          </a:xfrm>
          <a:prstGeom prst="rect">
            <a:avLst/>
          </a:prstGeom>
          <a:solidFill>
            <a:srgbClr val="383832"/>
          </a:solidFill>
          <a:ln w="12700">
            <a:solidFill>
              <a:srgbClr val="38383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148840" y="2560320"/>
            <a:ext cx="1627632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38383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240280" y="26243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5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240280" y="2852928"/>
            <a:ext cx="14447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ENRICH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2240280" y="3063240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LITE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895344" y="2615184"/>
            <a:ext cx="1627632" cy="713232"/>
          </a:xfrm>
          <a:prstGeom prst="rect">
            <a:avLst/>
          </a:prstGeom>
          <a:solidFill>
            <a:srgbClr val="383832"/>
          </a:solidFill>
          <a:ln w="12700">
            <a:solidFill>
              <a:srgbClr val="38383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840480" y="2560320"/>
            <a:ext cx="1627632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38383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931920" y="26243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5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6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931920" y="2852928"/>
            <a:ext cx="14447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SAVE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3931920" y="3063240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PG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586984" y="2615184"/>
            <a:ext cx="1627632" cy="713232"/>
          </a:xfrm>
          <a:prstGeom prst="rect">
            <a:avLst/>
          </a:prstGeom>
          <a:solidFill>
            <a:srgbClr val="383832"/>
          </a:solidFill>
          <a:ln w="12700">
            <a:solidFill>
              <a:srgbClr val="38383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532120" y="2560320"/>
            <a:ext cx="1627632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38383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623560" y="26243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5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7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623560" y="2852928"/>
            <a:ext cx="14447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KNOWLEDGE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623560" y="3063240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FLASH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7278624" y="2615184"/>
            <a:ext cx="1627632" cy="713232"/>
          </a:xfrm>
          <a:prstGeom prst="rect">
            <a:avLst/>
          </a:prstGeom>
          <a:solidFill>
            <a:srgbClr val="383832"/>
          </a:solidFill>
          <a:ln w="12700">
            <a:solidFill>
              <a:srgbClr val="38383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223760" y="2560320"/>
            <a:ext cx="1627632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38383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315200" y="26243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5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8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7315200" y="2852928"/>
            <a:ext cx="14447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HyPE EMBED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7315200" y="3063240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Gemini-2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512064" y="3392424"/>
            <a:ext cx="1627632" cy="713232"/>
          </a:xfrm>
          <a:prstGeom prst="rect">
            <a:avLst/>
          </a:prstGeom>
          <a:solidFill>
            <a:srgbClr val="383832"/>
          </a:solidFill>
          <a:ln w="12700">
            <a:solidFill>
              <a:srgbClr val="38383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57200" y="3337560"/>
            <a:ext cx="1627632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38383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48640" y="34015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5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9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548640" y="3630168"/>
            <a:ext cx="14447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CONTEXT EMBED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548640" y="3840480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Gemini-2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2203704" y="3392424"/>
            <a:ext cx="1627632" cy="713232"/>
          </a:xfrm>
          <a:prstGeom prst="rect">
            <a:avLst/>
          </a:prstGeom>
          <a:solidFill>
            <a:srgbClr val="383832"/>
          </a:solidFill>
          <a:ln w="12700">
            <a:solidFill>
              <a:srgbClr val="38383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148840" y="3337560"/>
            <a:ext cx="1627632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383832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240280" y="34015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5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10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2240280" y="3630168"/>
            <a:ext cx="14447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QUALITY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2240280" y="3840480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LITE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3895344" y="3392424"/>
            <a:ext cx="1627632" cy="713232"/>
          </a:xfrm>
          <a:prstGeom prst="rect">
            <a:avLst/>
          </a:prstGeom>
          <a:solidFill>
            <a:srgbClr val="383832"/>
          </a:solidFill>
          <a:ln w="12700">
            <a:solidFill>
              <a:srgbClr val="383832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840480" y="3337560"/>
            <a:ext cx="1627632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383832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931920" y="34015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5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11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3931920" y="3630168"/>
            <a:ext cx="14447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TAG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3931920" y="3840480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LITE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5586984" y="3392424"/>
            <a:ext cx="1627632" cy="713232"/>
          </a:xfrm>
          <a:prstGeom prst="rect">
            <a:avLst/>
          </a:prstGeom>
          <a:solidFill>
            <a:srgbClr val="383832"/>
          </a:solidFill>
          <a:ln w="12700">
            <a:solidFill>
              <a:srgbClr val="383832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5532120" y="3337560"/>
            <a:ext cx="1627632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383832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623560" y="34015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5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12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5623560" y="3630168"/>
            <a:ext cx="14447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AUTO-MATCH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5623560" y="3840480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LITE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7278624" y="3392424"/>
            <a:ext cx="1627632" cy="713232"/>
          </a:xfrm>
          <a:prstGeom prst="rect">
            <a:avLst/>
          </a:prstGeom>
          <a:solidFill>
            <a:srgbClr val="383832"/>
          </a:solidFill>
          <a:ln w="12700">
            <a:solidFill>
              <a:srgbClr val="383832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7223760" y="3337560"/>
            <a:ext cx="1627632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383832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315200" y="34015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5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13</a:t>
            </a:r>
            <a:endParaRPr lang="en-US" sz="1100" dirty="0"/>
          </a:p>
        </p:txBody>
      </p:sp>
      <p:sp>
        <p:nvSpPr>
          <p:cNvPr id="79" name="Text 77"/>
          <p:cNvSpPr/>
          <p:nvPr/>
        </p:nvSpPr>
        <p:spPr>
          <a:xfrm>
            <a:off x="7315200" y="3630168"/>
            <a:ext cx="14447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AI SUMMARY</a:t>
            </a:r>
            <a:endParaRPr lang="en-US" sz="1100" dirty="0"/>
          </a:p>
        </p:txBody>
      </p:sp>
      <p:sp>
        <p:nvSpPr>
          <p:cNvPr id="80" name="Text 78"/>
          <p:cNvSpPr/>
          <p:nvPr/>
        </p:nvSpPr>
        <p:spPr>
          <a:xfrm>
            <a:off x="7315200" y="3840480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FLASH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C4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■ </a:t>
            </a:r>
            <a:pPr indent="0" marL="0">
              <a:buNone/>
            </a:pPr>
            <a:r>
              <a:rPr lang="en-US" sz="100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Step 2.5 VERIFY = Claude Opus second-pass on 5 critical fields (handwritten only) — overrides Flash misreads on digit-precision data.</a:t>
            </a:r>
            <a:endParaRPr lang="en-US" sz="1400" dirty="0"/>
          </a:p>
        </p:txBody>
      </p:sp>
      <p:sp>
        <p:nvSpPr>
          <p:cNvPr id="82" name="Text 80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7A7A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PULSE  ·  PEOPLE · UPDATES · LIFECYCLE · SOURCING · ENGAGEMENT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8229600" y="484632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7A7A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11 / 25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EFF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FC40"/>
          </a:solidFill>
          <a:ln w="12700">
            <a:solidFill>
              <a:srgbClr val="3838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76656" y="36576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AI PILLAR · OCR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-100" kern="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Hybrid OCR — no GPU required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7A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PaddleOCR (free) → Vision LLM → Tesseract fallback · multi-language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8229600" cy="365760"/>
          </a:xfrm>
          <a:prstGeom prst="rect">
            <a:avLst/>
          </a:prstGeom>
          <a:solidFill>
            <a:srgbClr val="383832"/>
          </a:solidFill>
          <a:ln w="12700">
            <a:solidFill>
              <a:srgbClr val="3838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783080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FC4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121408" y="1783080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FC4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PADDLE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75888" y="1783080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FC4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VISION LLM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230368" y="1783080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FC4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TESSERACT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059168" y="178308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FC4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NORMALIZE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148840"/>
            <a:ext cx="8229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8C8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148840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English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121408" y="2148840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✓ first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75888" y="2148840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fallback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230368" y="2148840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last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059168" y="2148840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no-op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532888"/>
            <a:ext cx="8229600" cy="384048"/>
          </a:xfrm>
          <a:prstGeom prst="rect">
            <a:avLst/>
          </a:prstGeom>
          <a:solidFill>
            <a:srgbClr val="FEFFD6"/>
          </a:solidFill>
          <a:ln w="6350">
            <a:solidFill>
              <a:srgbClr val="C8C8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2532888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Burmese Unicode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121408" y="2532888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skip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75888" y="2532888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primary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230368" y="2532888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mya+eng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059168" y="2532888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no-op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2916936"/>
            <a:ext cx="8229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8C8B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2916936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Zawgyi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121408" y="2916936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skip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75888" y="2916936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primary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230368" y="2916936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mya+eng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059168" y="2916936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myanmartools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3300984"/>
            <a:ext cx="8229600" cy="384048"/>
          </a:xfrm>
          <a:prstGeom prst="rect">
            <a:avLst/>
          </a:prstGeom>
          <a:solidFill>
            <a:srgbClr val="FEFFD6"/>
          </a:solidFill>
          <a:ln w="6350">
            <a:solidFill>
              <a:srgbClr val="C8C8B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" y="3300984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Shan / Mon / Karen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121408" y="3300984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skip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675888" y="3300984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primary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230368" y="3300984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mya+eng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059168" y="3300984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pass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12064" y="3895344"/>
            <a:ext cx="8229600" cy="685800"/>
          </a:xfrm>
          <a:prstGeom prst="rect">
            <a:avLst/>
          </a:prstGeom>
          <a:solidFill>
            <a:srgbClr val="383832"/>
          </a:solidFill>
          <a:ln w="12700">
            <a:solidFill>
              <a:srgbClr val="38383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" y="3840480"/>
            <a:ext cx="822960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38383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393192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5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PRE-OCR ENHANCE  </a:t>
            </a:r>
            <a:pPr indent="0" marL="0">
              <a:buNone/>
            </a:pPr>
            <a:r>
              <a:rPr lang="en-US" sz="100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→  EXIF rotate · LANCZOS upscale to ≥2000px · auto-contrast · UnsharpMask · brightness boost. Skipped when image already crisp. Free, CPU-only, ~50–200ms.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7A7A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PULSE  ·  PEOPLE · UPDATES · LIFECYCLE · SOURCING · ENGAGEMENT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8229600" y="484632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7A7A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12 / 25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EFF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FC40"/>
          </a:solidFill>
          <a:ln w="12700">
            <a:solidFill>
              <a:srgbClr val="3838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76656" y="36576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AI PILLAR · MATCHING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-100" kern="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CV–JD matching engine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7A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7 weighted dimensions · weight inheritance · per-dimension explainable scores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783080"/>
          <a:ext cx="50292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724144" y="1837944"/>
            <a:ext cx="3017520" cy="2743200"/>
          </a:xfrm>
          <a:prstGeom prst="rect">
            <a:avLst/>
          </a:prstGeom>
          <a:solidFill>
            <a:srgbClr val="383832"/>
          </a:solidFill>
          <a:ln w="12700">
            <a:solidFill>
              <a:srgbClr val="38383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669280" y="1783080"/>
            <a:ext cx="3017520" cy="2743200"/>
          </a:xfrm>
          <a:prstGeom prst="rect">
            <a:avLst/>
          </a:prstGeom>
          <a:solidFill>
            <a:srgbClr val="383832"/>
          </a:solidFill>
          <a:ln w="19050">
            <a:solidFill>
              <a:srgbClr val="38383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852160" y="1920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FC4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WEIGHT INHERITANCE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852160" y="2212848"/>
            <a:ext cx="2743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EFFD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TENANT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50" i="1" dirty="0">
                <a:solidFill>
                  <a:srgbClr val="7A7A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↓ overridden by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EFFD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SECTOR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50" i="1" dirty="0">
                <a:solidFill>
                  <a:srgbClr val="7A7A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↓ overridden by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EFFD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JD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50" i="1" dirty="0">
                <a:solidFill>
                  <a:srgbClr val="7A7A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↓ overridden by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FC4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POSITION  </a:t>
            </a:r>
            <a:pPr indent="0" marL="0">
              <a:spcAft>
                <a:spcPts val="400"/>
              </a:spcAft>
              <a:buNone/>
            </a:pPr>
            <a:r>
              <a:rPr lang="en-US" sz="900" i="1" dirty="0">
                <a:solidFill>
                  <a:srgbClr val="7A7A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(w/ JD lock)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7A7A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PULSE  ·  PEOPLE · UPDATES · LIFECYCLE · SOURCING · ENGAGEMENT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8229600" y="484632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7A7A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13 / 25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EFF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FC40"/>
          </a:solidFill>
          <a:ln w="12700">
            <a:solidFill>
              <a:srgbClr val="3838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76656" y="36576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AI PILLAR · EVALUATION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-100" kern="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Auto-eval &amp; calibration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7A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Zero-click scorecards · auto-rubrics · consensus · stack rank · interviewer drift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12064" y="1837944"/>
            <a:ext cx="2011680" cy="1325880"/>
          </a:xfrm>
          <a:prstGeom prst="rect">
            <a:avLst/>
          </a:prstGeom>
          <a:solidFill>
            <a:srgbClr val="383832"/>
          </a:solidFill>
          <a:ln w="12700">
            <a:solidFill>
              <a:srgbClr val="3838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783080"/>
            <a:ext cx="201168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38383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783080"/>
            <a:ext cx="54864" cy="1325880"/>
          </a:xfrm>
          <a:prstGeom prst="rect">
            <a:avLst/>
          </a:prstGeom>
          <a:solidFill>
            <a:srgbClr val="007518"/>
          </a:solidFill>
          <a:ln w="12700">
            <a:solidFill>
              <a:srgbClr val="00751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94767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SCORECARDS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1792" y="228600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A7A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6 role-type templates auto-matched by title + dept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78608" y="1837944"/>
            <a:ext cx="2011680" cy="1325880"/>
          </a:xfrm>
          <a:prstGeom prst="rect">
            <a:avLst/>
          </a:prstGeom>
          <a:solidFill>
            <a:srgbClr val="383832"/>
          </a:solidFill>
          <a:ln w="12700">
            <a:solidFill>
              <a:srgbClr val="38383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23744" y="1783080"/>
            <a:ext cx="201168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38383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23744" y="1783080"/>
            <a:ext cx="54864" cy="1325880"/>
          </a:xfrm>
          <a:prstGeom prst="rect">
            <a:avLst/>
          </a:prstGeom>
          <a:solidFill>
            <a:srgbClr val="007518"/>
          </a:solidFill>
          <a:ln w="12700">
            <a:solidFill>
              <a:srgbClr val="00751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88336" y="194767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RUBRICS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688336" y="228600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A7A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Auto-generated from JD on save/enhance · 1–5 labels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45152" y="1837944"/>
            <a:ext cx="2011680" cy="1325880"/>
          </a:xfrm>
          <a:prstGeom prst="rect">
            <a:avLst/>
          </a:prstGeom>
          <a:solidFill>
            <a:srgbClr val="383832"/>
          </a:solidFill>
          <a:ln w="12700">
            <a:solidFill>
              <a:srgbClr val="38383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90288" y="1783080"/>
            <a:ext cx="201168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38383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90288" y="1783080"/>
            <a:ext cx="54864" cy="1325880"/>
          </a:xfrm>
          <a:prstGeom prst="rect">
            <a:avLst/>
          </a:prstGeom>
          <a:solidFill>
            <a:srgbClr val="007518"/>
          </a:solidFill>
          <a:ln w="12700">
            <a:solidFill>
              <a:srgbClr val="00751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194767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CULTURE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4880" y="228600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A7A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6th dimension · keyword match vs position values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711696" y="1837944"/>
            <a:ext cx="2011680" cy="1325880"/>
          </a:xfrm>
          <a:prstGeom prst="rect">
            <a:avLst/>
          </a:prstGeom>
          <a:solidFill>
            <a:srgbClr val="383832"/>
          </a:solidFill>
          <a:ln w="12700">
            <a:solidFill>
              <a:srgbClr val="38383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56832" y="1783080"/>
            <a:ext cx="201168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38383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656832" y="1783080"/>
            <a:ext cx="54864" cy="1325880"/>
          </a:xfrm>
          <a:prstGeom prst="rect">
            <a:avLst/>
          </a:prstGeom>
          <a:solidFill>
            <a:srgbClr val="007518"/>
          </a:solidFill>
          <a:ln w="12700">
            <a:solidFill>
              <a:srgbClr val="00751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21424" y="194767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RAG FLAGS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21424" y="228600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A7A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Job hopping · gaps · over/under-qualified · domain mismatch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12064" y="3218688"/>
            <a:ext cx="2011680" cy="1325880"/>
          </a:xfrm>
          <a:prstGeom prst="rect">
            <a:avLst/>
          </a:prstGeom>
          <a:solidFill>
            <a:srgbClr val="383832"/>
          </a:solidFill>
          <a:ln w="12700">
            <a:solidFill>
              <a:srgbClr val="38383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3163824"/>
            <a:ext cx="201168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38383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3163824"/>
            <a:ext cx="54864" cy="1325880"/>
          </a:xfrm>
          <a:prstGeom prst="rect">
            <a:avLst/>
          </a:prstGeom>
          <a:solidFill>
            <a:srgbClr val="007518"/>
          </a:solidFill>
          <a:ln w="12700">
            <a:solidFill>
              <a:srgbClr val="00751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" y="3328416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CONSENSUS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21792" y="3666744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A7A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Std-dev agreement · lone dissent detection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578608" y="3218688"/>
            <a:ext cx="2011680" cy="1325880"/>
          </a:xfrm>
          <a:prstGeom prst="rect">
            <a:avLst/>
          </a:prstGeom>
          <a:solidFill>
            <a:srgbClr val="383832"/>
          </a:solidFill>
          <a:ln w="12700">
            <a:solidFill>
              <a:srgbClr val="38383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23744" y="3163824"/>
            <a:ext cx="201168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38383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523744" y="3163824"/>
            <a:ext cx="54864" cy="1325880"/>
          </a:xfrm>
          <a:prstGeom prst="rect">
            <a:avLst/>
          </a:prstGeom>
          <a:solidFill>
            <a:srgbClr val="007518"/>
          </a:solidFill>
          <a:ln w="12700">
            <a:solidFill>
              <a:srgbClr val="00751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88336" y="3328416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VOTES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688336" y="3666744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A7A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strong_hire · hire · no_hire · strong_no_hire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645152" y="3218688"/>
            <a:ext cx="2011680" cy="1325880"/>
          </a:xfrm>
          <a:prstGeom prst="rect">
            <a:avLst/>
          </a:prstGeom>
          <a:solidFill>
            <a:srgbClr val="383832"/>
          </a:solidFill>
          <a:ln w="12700">
            <a:solidFill>
              <a:srgbClr val="38383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90288" y="3163824"/>
            <a:ext cx="201168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38383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590288" y="3163824"/>
            <a:ext cx="54864" cy="1325880"/>
          </a:xfrm>
          <a:prstGeom prst="rect">
            <a:avLst/>
          </a:prstGeom>
          <a:solidFill>
            <a:srgbClr val="007518"/>
          </a:solidFill>
          <a:ln w="12700">
            <a:solidFill>
              <a:srgbClr val="00751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0" y="3328416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STACK RANK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754880" y="3666744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A7A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Composite 60% · consensus 30% · flag penalty 10%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711696" y="3218688"/>
            <a:ext cx="2011680" cy="1325880"/>
          </a:xfrm>
          <a:prstGeom prst="rect">
            <a:avLst/>
          </a:prstGeom>
          <a:solidFill>
            <a:srgbClr val="383832"/>
          </a:solidFill>
          <a:ln w="12700">
            <a:solidFill>
              <a:srgbClr val="38383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656832" y="3163824"/>
            <a:ext cx="201168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38383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656832" y="3163824"/>
            <a:ext cx="54864" cy="1325880"/>
          </a:xfrm>
          <a:prstGeom prst="rect">
            <a:avLst/>
          </a:prstGeom>
          <a:solidFill>
            <a:srgbClr val="007518"/>
          </a:solidFill>
          <a:ln w="12700">
            <a:solidFill>
              <a:srgbClr val="00751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21424" y="3328416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CALIBRATION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821424" y="3666744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A7A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Per-interviewer stats · harshness index · drift report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7A7A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PULSE  ·  PEOPLE · UPDATES · LIFECYCLE · SOURCING · ENGAGEMENT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8229600" y="484632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7A7A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14 / 25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EFF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FC40"/>
          </a:solidFill>
          <a:ln w="12700">
            <a:solidFill>
              <a:srgbClr val="3838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76656" y="36576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AI PILLAR · AGENT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-100" kern="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Chat v2 — Agno HR agent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7A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11 tools · pgvector memory · per-session $ cap · CI eval gate (mean ≥ 4.0)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12064" y="1837944"/>
            <a:ext cx="4023360" cy="2743200"/>
          </a:xfrm>
          <a:prstGeom prst="rect">
            <a:avLst/>
          </a:prstGeom>
          <a:solidFill>
            <a:srgbClr val="383832"/>
          </a:solidFill>
          <a:ln w="12700">
            <a:solidFill>
              <a:srgbClr val="3838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783080"/>
            <a:ext cx="402336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3838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920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A7A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ROLE × TOOL ALLOWLIST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221284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query_cvs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926080" y="221284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75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✓ all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40080" y="241401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get_candidate_brief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926080" y="241401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75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✓ all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40080" y="261518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score_cv_vs_position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926080" y="261518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75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✓ all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40080" y="281635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list_candidate_pipeline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926080" y="281635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75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✓ all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40080" y="30175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query_positions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926080" y="301752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75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✓ all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40080" y="321868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get_position_brief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926080" y="321868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75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✓ all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40080" y="341985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get_pipeline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926080" y="341985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75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✓ all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40080" y="362102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query_brain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926080" y="362102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75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✓ all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40080" y="382219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update_brain (write)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926080" y="382219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75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analyst · admin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40080" y="402336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query_funnel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926080" y="402336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75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✓ all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40080" y="422452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draft_email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926080" y="422452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75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recruiter · admin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718304" y="1837944"/>
            <a:ext cx="4023360" cy="411480"/>
          </a:xfrm>
          <a:prstGeom prst="rect">
            <a:avLst/>
          </a:prstGeom>
          <a:solidFill>
            <a:srgbClr val="383832"/>
          </a:solidFill>
          <a:ln w="12700">
            <a:solidFill>
              <a:srgbClr val="38383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63440" y="1783080"/>
            <a:ext cx="4023360" cy="411480"/>
          </a:xfrm>
          <a:prstGeom prst="rect">
            <a:avLst/>
          </a:prstGeom>
          <a:solidFill>
            <a:srgbClr val="383832"/>
          </a:solidFill>
          <a:ln w="19050">
            <a:solidFill>
              <a:srgbClr val="38383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17830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FC4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MEMORY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715000" y="178308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EFFD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pgvector recall (top-K=5) · 24h embed cache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18304" y="2304288"/>
            <a:ext cx="4023360" cy="411480"/>
          </a:xfrm>
          <a:prstGeom prst="rect">
            <a:avLst/>
          </a:prstGeom>
          <a:solidFill>
            <a:srgbClr val="383832"/>
          </a:solidFill>
          <a:ln w="12700">
            <a:solidFill>
              <a:srgbClr val="38383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63440" y="2249424"/>
            <a:ext cx="4023360" cy="411480"/>
          </a:xfrm>
          <a:prstGeom prst="rect">
            <a:avLst/>
          </a:prstGeom>
          <a:solidFill>
            <a:srgbClr val="383832"/>
          </a:solidFill>
          <a:ln w="19050">
            <a:solidFill>
              <a:srgbClr val="38383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00600" y="2249424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FC4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TRACE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715000" y="2249424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EFFD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tool_traces table · PII redacted before persist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718304" y="2770632"/>
            <a:ext cx="4023360" cy="411480"/>
          </a:xfrm>
          <a:prstGeom prst="rect">
            <a:avLst/>
          </a:prstGeom>
          <a:solidFill>
            <a:srgbClr val="383832"/>
          </a:solidFill>
          <a:ln w="12700">
            <a:solidFill>
              <a:srgbClr val="38383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63440" y="2715768"/>
            <a:ext cx="4023360" cy="411480"/>
          </a:xfrm>
          <a:prstGeom prst="rect">
            <a:avLst/>
          </a:prstGeom>
          <a:solidFill>
            <a:srgbClr val="383832"/>
          </a:solidFill>
          <a:ln w="19050">
            <a:solidFill>
              <a:srgbClr val="38383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00600" y="271576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FC4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BUDGET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715000" y="2715768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EFFD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per-session cap $1 · enforced via agent_runs.cost_usd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718304" y="3236976"/>
            <a:ext cx="4023360" cy="411480"/>
          </a:xfrm>
          <a:prstGeom prst="rect">
            <a:avLst/>
          </a:prstGeom>
          <a:solidFill>
            <a:srgbClr val="383832"/>
          </a:solidFill>
          <a:ln w="12700">
            <a:solidFill>
              <a:srgbClr val="38383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663440" y="3182112"/>
            <a:ext cx="4023360" cy="411480"/>
          </a:xfrm>
          <a:prstGeom prst="rect">
            <a:avLst/>
          </a:prstGeom>
          <a:solidFill>
            <a:srgbClr val="383832"/>
          </a:solidFill>
          <a:ln w="19050">
            <a:solidFill>
              <a:srgbClr val="38383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00600" y="318211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FC4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EVAL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715000" y="3182112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EFFD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30 golden cases · CI fails if mean &lt; 4.0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718304" y="3703320"/>
            <a:ext cx="4023360" cy="411480"/>
          </a:xfrm>
          <a:prstGeom prst="rect">
            <a:avLst/>
          </a:prstGeom>
          <a:solidFill>
            <a:srgbClr val="383832"/>
          </a:solidFill>
          <a:ln w="12700">
            <a:solidFill>
              <a:srgbClr val="38383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663440" y="3648456"/>
            <a:ext cx="4023360" cy="411480"/>
          </a:xfrm>
          <a:prstGeom prst="rect">
            <a:avLst/>
          </a:prstGeom>
          <a:solidFill>
            <a:srgbClr val="383832"/>
          </a:solidFill>
          <a:ln w="19050">
            <a:solidFill>
              <a:srgbClr val="38383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00600" y="3648456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FC4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FALLBACK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715000" y="3648456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EFFD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Agno-shim if SDK absent · OpenRouter tool-loop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718304" y="4169664"/>
            <a:ext cx="4023360" cy="411480"/>
          </a:xfrm>
          <a:prstGeom prst="rect">
            <a:avLst/>
          </a:prstGeom>
          <a:solidFill>
            <a:srgbClr val="383832"/>
          </a:solidFill>
          <a:ln w="12700">
            <a:solidFill>
              <a:srgbClr val="38383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663440" y="4114800"/>
            <a:ext cx="4023360" cy="411480"/>
          </a:xfrm>
          <a:prstGeom prst="rect">
            <a:avLst/>
          </a:prstGeom>
          <a:solidFill>
            <a:srgbClr val="383832"/>
          </a:solidFill>
          <a:ln w="19050">
            <a:solidFill>
              <a:srgbClr val="38383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00600" y="41148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FC4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FLAG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715000" y="411480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EFFD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AGENT_V2=true → instant flip · zero DB change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7A7A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PULSE  ·  PEOPLE · UPDATES · LIFECYCLE · SOURCING · ENGAGEMENT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8229600" y="484632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7A7A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15 / 25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EFF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FC40"/>
          </a:solidFill>
          <a:ln w="12700">
            <a:solidFill>
              <a:srgbClr val="3838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76656" y="36576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OPS · COST &amp; SAFETY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-100" kern="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Spend that can't run away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7A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Per-call ledger · per-tenant daily cap · per-session cap · semaphore gate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783080"/>
          <a:ext cx="402336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4718304" y="1837944"/>
            <a:ext cx="4023360" cy="429768"/>
          </a:xfrm>
          <a:prstGeom prst="rect">
            <a:avLst/>
          </a:prstGeom>
          <a:solidFill>
            <a:srgbClr val="383832"/>
          </a:solidFill>
          <a:ln w="12700">
            <a:solidFill>
              <a:srgbClr val="38383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663440" y="1783080"/>
            <a:ext cx="4023360" cy="429768"/>
          </a:xfrm>
          <a:prstGeom prst="rect">
            <a:avLst/>
          </a:prstGeom>
          <a:solidFill>
            <a:srgbClr val="FFFFFF"/>
          </a:solidFill>
          <a:ln w="19050">
            <a:solidFill>
              <a:srgbClr val="38383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663440" y="1783080"/>
            <a:ext cx="54864" cy="429768"/>
          </a:xfrm>
          <a:prstGeom prst="rect">
            <a:avLst/>
          </a:prstGeom>
          <a:solidFill>
            <a:srgbClr val="00FC40"/>
          </a:solidFill>
          <a:ln w="12700">
            <a:solidFill>
              <a:srgbClr val="00FC4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800600" y="1783080"/>
            <a:ext cx="12801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LLM_GATE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080760" y="1783080"/>
            <a:ext cx="2514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Semaphore(8) per worker — caps in-flight OpenRouter calls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4718304" y="2295144"/>
            <a:ext cx="4023360" cy="429768"/>
          </a:xfrm>
          <a:prstGeom prst="rect">
            <a:avLst/>
          </a:prstGeom>
          <a:solidFill>
            <a:srgbClr val="383832"/>
          </a:solidFill>
          <a:ln w="12700">
            <a:solidFill>
              <a:srgbClr val="38383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663440" y="2240280"/>
            <a:ext cx="4023360" cy="429768"/>
          </a:xfrm>
          <a:prstGeom prst="rect">
            <a:avLst/>
          </a:prstGeom>
          <a:solidFill>
            <a:srgbClr val="FFFFFF"/>
          </a:solidFill>
          <a:ln w="19050">
            <a:solidFill>
              <a:srgbClr val="38383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663440" y="2240280"/>
            <a:ext cx="54864" cy="429768"/>
          </a:xfrm>
          <a:prstGeom prst="rect">
            <a:avLst/>
          </a:prstGeom>
          <a:solidFill>
            <a:srgbClr val="00FC40"/>
          </a:solidFill>
          <a:ln w="12700">
            <a:solidFill>
              <a:srgbClr val="00FC4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00600" y="2240280"/>
            <a:ext cx="12801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OCR_GATE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080760" y="2240280"/>
            <a:ext cx="2514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Semaphore(2) — caps PaddleOCR RAM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718304" y="2752344"/>
            <a:ext cx="4023360" cy="429768"/>
          </a:xfrm>
          <a:prstGeom prst="rect">
            <a:avLst/>
          </a:prstGeom>
          <a:solidFill>
            <a:srgbClr val="383832"/>
          </a:solidFill>
          <a:ln w="12700">
            <a:solidFill>
              <a:srgbClr val="38383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663440" y="2697480"/>
            <a:ext cx="4023360" cy="429768"/>
          </a:xfrm>
          <a:prstGeom prst="rect">
            <a:avLst/>
          </a:prstGeom>
          <a:solidFill>
            <a:srgbClr val="FFFFFF"/>
          </a:solidFill>
          <a:ln w="19050">
            <a:solidFill>
              <a:srgbClr val="383832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663440" y="2697480"/>
            <a:ext cx="54864" cy="429768"/>
          </a:xfrm>
          <a:prstGeom prst="rect">
            <a:avLst/>
          </a:prstGeom>
          <a:solidFill>
            <a:srgbClr val="00FC40"/>
          </a:solidFill>
          <a:ln w="12700">
            <a:solidFill>
              <a:srgbClr val="00FC4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800600" y="2697480"/>
            <a:ext cx="12801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DAILY CAP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080760" y="2697480"/>
            <a:ext cx="2514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$200/tenant/day — config.py + cost_cap.py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4718304" y="3209544"/>
            <a:ext cx="4023360" cy="429768"/>
          </a:xfrm>
          <a:prstGeom prst="rect">
            <a:avLst/>
          </a:prstGeom>
          <a:solidFill>
            <a:srgbClr val="383832"/>
          </a:solidFill>
          <a:ln w="12700">
            <a:solidFill>
              <a:srgbClr val="383832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663440" y="3154680"/>
            <a:ext cx="4023360" cy="429768"/>
          </a:xfrm>
          <a:prstGeom prst="rect">
            <a:avLst/>
          </a:prstGeom>
          <a:solidFill>
            <a:srgbClr val="FFFFFF"/>
          </a:solidFill>
          <a:ln w="19050">
            <a:solidFill>
              <a:srgbClr val="383832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663440" y="3154680"/>
            <a:ext cx="54864" cy="429768"/>
          </a:xfrm>
          <a:prstGeom prst="rect">
            <a:avLst/>
          </a:prstGeom>
          <a:solidFill>
            <a:srgbClr val="00FC40"/>
          </a:solidFill>
          <a:ln w="12700">
            <a:solidFill>
              <a:srgbClr val="00FC4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800600" y="3154680"/>
            <a:ext cx="12801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SESSION CAP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6080760" y="3154680"/>
            <a:ext cx="2514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$1/session for agent — agent_runs.cost_usd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4718304" y="3666744"/>
            <a:ext cx="4023360" cy="429768"/>
          </a:xfrm>
          <a:prstGeom prst="rect">
            <a:avLst/>
          </a:prstGeom>
          <a:solidFill>
            <a:srgbClr val="383832"/>
          </a:solidFill>
          <a:ln w="12700">
            <a:solidFill>
              <a:srgbClr val="383832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663440" y="3611880"/>
            <a:ext cx="4023360" cy="429768"/>
          </a:xfrm>
          <a:prstGeom prst="rect">
            <a:avLst/>
          </a:prstGeom>
          <a:solidFill>
            <a:srgbClr val="FFFFFF"/>
          </a:solidFill>
          <a:ln w="19050">
            <a:solidFill>
              <a:srgbClr val="383832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663440" y="3611880"/>
            <a:ext cx="54864" cy="429768"/>
          </a:xfrm>
          <a:prstGeom prst="rect">
            <a:avLst/>
          </a:prstGeom>
          <a:solidFill>
            <a:srgbClr val="00FC40"/>
          </a:solidFill>
          <a:ln w="12700">
            <a:solidFill>
              <a:srgbClr val="00FC4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800600" y="3611880"/>
            <a:ext cx="12801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LEDGER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6080760" y="3611880"/>
            <a:ext cx="2514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llm_call_log table — every call: model·step·tokens·$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4718304" y="4123944"/>
            <a:ext cx="4023360" cy="429768"/>
          </a:xfrm>
          <a:prstGeom prst="rect">
            <a:avLst/>
          </a:prstGeom>
          <a:solidFill>
            <a:srgbClr val="383832"/>
          </a:solidFill>
          <a:ln w="12700">
            <a:solidFill>
              <a:srgbClr val="383832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663440" y="4069080"/>
            <a:ext cx="4023360" cy="429768"/>
          </a:xfrm>
          <a:prstGeom prst="rect">
            <a:avLst/>
          </a:prstGeom>
          <a:solidFill>
            <a:srgbClr val="FFFFFF"/>
          </a:solidFill>
          <a:ln w="19050">
            <a:solidFill>
              <a:srgbClr val="383832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663440" y="4069080"/>
            <a:ext cx="54864" cy="429768"/>
          </a:xfrm>
          <a:prstGeom prst="rect">
            <a:avLst/>
          </a:prstGeom>
          <a:solidFill>
            <a:srgbClr val="00FC40"/>
          </a:solidFill>
          <a:ln w="12700">
            <a:solidFill>
              <a:srgbClr val="00FC4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800600" y="4069080"/>
            <a:ext cx="12801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BILLING UI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6080760" y="4069080"/>
            <a:ext cx="2514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/billing — admin-only · summary · by-model · hourly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7A7A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PULSE  ·  PEOPLE · UPDATES · LIFECYCLE · SOURCING · ENGAGEMENT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8229600" y="484632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7A7A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16 / 25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EFF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FC40"/>
          </a:solidFill>
          <a:ln w="12700">
            <a:solidFill>
              <a:srgbClr val="3838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76656" y="36576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OPS · SECURITY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-100" kern="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Security posture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7A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JWT-first · signed file URLs · rate-limited · CSRF-checked · MIME-whitelisted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12064" y="1837944"/>
            <a:ext cx="8229600" cy="420624"/>
          </a:xfrm>
          <a:prstGeom prst="rect">
            <a:avLst/>
          </a:prstGeom>
          <a:solidFill>
            <a:srgbClr val="383832"/>
          </a:solidFill>
          <a:ln w="12700">
            <a:solidFill>
              <a:srgbClr val="3838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783080"/>
            <a:ext cx="8229600" cy="420624"/>
          </a:xfrm>
          <a:prstGeom prst="rect">
            <a:avLst/>
          </a:prstGeom>
          <a:solidFill>
            <a:srgbClr val="FFFFFF"/>
          </a:solidFill>
          <a:ln w="19050">
            <a:solidFill>
              <a:srgbClr val="3838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783080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75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AUTH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057400" y="1783080"/>
            <a:ext cx="6537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JWT HS256 · 8h exp · bcrypt cost 12 · lockout after 5 fails / 15min · generic 401 (no enumeration) · legacy hex fallback for old tokens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12064" y="2295144"/>
            <a:ext cx="8229600" cy="420624"/>
          </a:xfrm>
          <a:prstGeom prst="rect">
            <a:avLst/>
          </a:prstGeom>
          <a:solidFill>
            <a:srgbClr val="383832"/>
          </a:solidFill>
          <a:ln w="12700">
            <a:solidFill>
              <a:srgbClr val="38383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240280"/>
            <a:ext cx="8229600" cy="420624"/>
          </a:xfrm>
          <a:prstGeom prst="rect">
            <a:avLst/>
          </a:prstGeom>
          <a:solidFill>
            <a:srgbClr val="FFFFFF"/>
          </a:solidFill>
          <a:ln w="19050">
            <a:solidFill>
              <a:srgbClr val="3838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240280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75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FILE ACCESS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057400" y="2240280"/>
            <a:ext cx="6537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GET /candidates/:id/file/sign → HMAC-signed URL (5min TTL) · replaces ?token= leak path · FILE_SIGN_SECRET (falls back to JWT_SECRET)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12064" y="2752344"/>
            <a:ext cx="8229600" cy="420624"/>
          </a:xfrm>
          <a:prstGeom prst="rect">
            <a:avLst/>
          </a:prstGeom>
          <a:solidFill>
            <a:srgbClr val="383832"/>
          </a:solidFill>
          <a:ln w="12700">
            <a:solidFill>
              <a:srgbClr val="38383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697480"/>
            <a:ext cx="8229600" cy="420624"/>
          </a:xfrm>
          <a:prstGeom prst="rect">
            <a:avLst/>
          </a:prstGeom>
          <a:solidFill>
            <a:srgbClr val="FFFFFF"/>
          </a:solidFill>
          <a:ln w="19050">
            <a:solidFill>
              <a:srgbClr val="3838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697480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75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UPLOAD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057400" y="2697480"/>
            <a:ext cx="6537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20MB cap · MIME whitelist (pdf/docx/doc/txt/png/jpg) · 413 before pipeline kicks off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12064" y="3209544"/>
            <a:ext cx="8229600" cy="420624"/>
          </a:xfrm>
          <a:prstGeom prst="rect">
            <a:avLst/>
          </a:prstGeom>
          <a:solidFill>
            <a:srgbClr val="383832"/>
          </a:solidFill>
          <a:ln w="12700">
            <a:solidFill>
              <a:srgbClr val="38383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154680"/>
            <a:ext cx="8229600" cy="420624"/>
          </a:xfrm>
          <a:prstGeom prst="rect">
            <a:avLst/>
          </a:prstGeom>
          <a:solidFill>
            <a:srgbClr val="FFFFFF"/>
          </a:solidFill>
          <a:ln w="19050">
            <a:solidFill>
              <a:srgbClr val="3838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154680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75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RATE LIMIT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057400" y="3154680"/>
            <a:ext cx="6537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slowapi · 600/min global · 5/min upload+login+register · 30/min LLM endpoints (chat · ai-summary · export)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12064" y="3666744"/>
            <a:ext cx="8229600" cy="420624"/>
          </a:xfrm>
          <a:prstGeom prst="rect">
            <a:avLst/>
          </a:prstGeom>
          <a:solidFill>
            <a:srgbClr val="383832"/>
          </a:solidFill>
          <a:ln w="12700">
            <a:solidFill>
              <a:srgbClr val="38383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611880"/>
            <a:ext cx="8229600" cy="420624"/>
          </a:xfrm>
          <a:prstGeom prst="rect">
            <a:avLst/>
          </a:prstGeom>
          <a:solidFill>
            <a:srgbClr val="FFFFFF"/>
          </a:solidFill>
          <a:ln w="19050">
            <a:solidFill>
              <a:srgbClr val="38383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3611880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75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XSS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057400" y="3611880"/>
            <a:ext cx="6537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All {@html} sinks escape &amp;&lt;&gt;"' BEFORE markdown · LLM output and notes can carry candidate-injected payload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12064" y="4123944"/>
            <a:ext cx="8229600" cy="420624"/>
          </a:xfrm>
          <a:prstGeom prst="rect">
            <a:avLst/>
          </a:prstGeom>
          <a:solidFill>
            <a:srgbClr val="383832"/>
          </a:solidFill>
          <a:ln w="12700">
            <a:solidFill>
              <a:srgbClr val="38383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4069080"/>
            <a:ext cx="8229600" cy="420624"/>
          </a:xfrm>
          <a:prstGeom prst="rect">
            <a:avLst/>
          </a:prstGeom>
          <a:solidFill>
            <a:srgbClr val="FFFFFF"/>
          </a:solidFill>
          <a:ln w="19050">
            <a:solidFill>
              <a:srgbClr val="38383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4069080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75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CSRF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057400" y="4069080"/>
            <a:ext cx="6537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Origin-based middleware · env-driven ALLOWED_ORIGINS · no wildcard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7A7A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PULSE  ·  PEOPLE · UPDATES · LIFECYCLE · SOURCING · ENGAGEMENT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229600" y="484632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7A7A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17 / 25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EFF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FC40"/>
          </a:solidFill>
          <a:ln w="12700">
            <a:solidFill>
              <a:srgbClr val="3838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76656" y="36576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OPS · TOPOLOGY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-100" kern="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From laptop to AWS — same code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7A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Docker Compose locally · ECS Fargate in prod · Aurora Serverless · EFS · CloudWatch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12064" y="1837944"/>
            <a:ext cx="4023360" cy="2743200"/>
          </a:xfrm>
          <a:prstGeom prst="rect">
            <a:avLst/>
          </a:prstGeom>
          <a:solidFill>
            <a:srgbClr val="383832"/>
          </a:solidFill>
          <a:ln w="12700">
            <a:solidFill>
              <a:srgbClr val="3838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783080"/>
            <a:ext cx="402336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3838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920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A7A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LOCAL — DOCKER COMPOSE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22402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75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pulse-api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194560" y="22402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uvicorn × 4 workers · 8GB · 4 CPU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26243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75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pulse-db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194560" y="26243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Postgres 18 · pgvector · 100 conns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" y="30083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75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pulse-redis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194560" y="300837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embed cache 24h · tool cache 60s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0080" y="339242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75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pulse-backup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194560" y="339242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pg_dump 24h · gzip · 14d retention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0080" y="377647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75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/data/cvs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194560" y="37764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uploaded files (bind-mount or vol)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18304" y="1837944"/>
            <a:ext cx="4023360" cy="2743200"/>
          </a:xfrm>
          <a:prstGeom prst="rect">
            <a:avLst/>
          </a:prstGeom>
          <a:solidFill>
            <a:srgbClr val="383832"/>
          </a:solidFill>
          <a:ln w="12700">
            <a:solidFill>
              <a:srgbClr val="38383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1783080"/>
            <a:ext cx="4023360" cy="2743200"/>
          </a:xfrm>
          <a:prstGeom prst="rect">
            <a:avLst/>
          </a:prstGeom>
          <a:solidFill>
            <a:srgbClr val="383832"/>
          </a:solidFill>
          <a:ln w="19050">
            <a:solidFill>
              <a:srgbClr val="3838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1920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FC4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PROD — ECS FARGATE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46320" y="22402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FC4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ALB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583680" y="22402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EFFD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ACM cert · X-ALB-Probe fast-path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846320" y="26060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FC4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ECS Service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583680" y="26060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EFFD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Fargate · scale 1..N · OIDC deploy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846320" y="29718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FC4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Aurora Serverless v2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583680" y="2971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EFFD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0.5–2 ACU · pgvector · PIT restore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846320" y="33375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FC4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EFS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583680" y="33375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EFFD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/data/cvs · access point uid 1000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846320" y="37033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FC4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Secrets Mgr+SSM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583680" y="3703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EFFD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secrets at runtime, env from SSM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846320" y="40690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FC4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CloudWatch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583680" y="40690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EFFD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stdout JSON · 30d retention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7A7A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PULSE  ·  PEOPLE · UPDATES · LIFECYCLE · SOURCING · ENGAGEMENT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8229600" y="484632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7A7A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18 / 25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838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292608" cy="292608"/>
          </a:xfrm>
          <a:prstGeom prst="rect">
            <a:avLst/>
          </a:prstGeom>
          <a:solidFill>
            <a:srgbClr val="00FC40"/>
          </a:solidFill>
          <a:ln w="12700">
            <a:solidFill>
              <a:srgbClr val="00FC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42062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0FC4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PART 02  ·  WHAT'S NEXT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3200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0" b="1" spc="-600" kern="0" dirty="0">
                <a:solidFill>
                  <a:srgbClr val="00FC4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15000" dirty="0"/>
          </a:p>
        </p:txBody>
      </p:sp>
      <p:sp>
        <p:nvSpPr>
          <p:cNvPr id="5" name="Text 3"/>
          <p:cNvSpPr/>
          <p:nvPr/>
        </p:nvSpPr>
        <p:spPr>
          <a:xfrm>
            <a:off x="3657600" y="192024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00" b="1" spc="-200" kern="0" dirty="0">
                <a:solidFill>
                  <a:srgbClr val="FEFFD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TOMORROW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3657600" y="27889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0FC4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Three pillars we're building next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0" y="324612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FEFFD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01. SharePoint comms   ·   02. Template generation   ·   03. Agentic end-to-end OS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138160" y="46177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00FC4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19 / 25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EFF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FC40"/>
          </a:solidFill>
          <a:ln w="12700">
            <a:solidFill>
              <a:srgbClr val="3838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76656" y="36576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ROADMAP · PILLAR 01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-100" kern="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SharePoint internal comms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7A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PULSE becomes where the org talks to itself — broadcast, targeted, and 2-way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12064" y="1837944"/>
            <a:ext cx="4023360" cy="2743200"/>
          </a:xfrm>
          <a:prstGeom prst="rect">
            <a:avLst/>
          </a:prstGeom>
          <a:solidFill>
            <a:srgbClr val="383832"/>
          </a:solidFill>
          <a:ln w="12700">
            <a:solidFill>
              <a:srgbClr val="3838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783080"/>
            <a:ext cx="402336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3838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920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A7A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WE'RE BUILDING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2212848"/>
            <a:ext cx="3749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Bi-directional sync with SharePoint sites &amp; lists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Broadcast posts (whole-org, dept, role, location)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Targeted updates via PULSE audience graph (people + tags + lifecycle)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Read receipts + acknowledge flows for compliance posts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Comment / reaction surface — feeds back into engagement scoring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Drafts authored by the agent, approved by humans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18304" y="1837944"/>
            <a:ext cx="4023360" cy="2743200"/>
          </a:xfrm>
          <a:prstGeom prst="rect">
            <a:avLst/>
          </a:prstGeom>
          <a:solidFill>
            <a:srgbClr val="383832"/>
          </a:solidFill>
          <a:ln w="12700">
            <a:solidFill>
              <a:srgbClr val="38383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783080"/>
            <a:ext cx="4023360" cy="2743200"/>
          </a:xfrm>
          <a:prstGeom prst="rect">
            <a:avLst/>
          </a:prstGeom>
          <a:solidFill>
            <a:srgbClr val="383832"/>
          </a:solidFill>
          <a:ln w="19050">
            <a:solidFill>
              <a:srgbClr val="3838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920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FC4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46320" y="221284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FC4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NEW SERVICE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126480" y="221284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EFFD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comms-svc — FastAPI sub-app (mount path /api/comms)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846320" y="257860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FC4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INTEGRATION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126480" y="257860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EFFD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Microsoft Graph API (sites · lists · pages · permissions)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846320" y="294436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FC4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DATA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126480" y="294436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EFFD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comms_post · comms_audience · comms_receipt (additive)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846320" y="331012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FC4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 TOOL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126480" y="331012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EFFD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post_announcement / target_audience / read_receipts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846320" y="367588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FC4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AUTH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126480" y="367588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EFFD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Azure AD app · client-credentials · least-priv scopes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846320" y="404164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FC4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UI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126480" y="404164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EFFD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/comms — composer · audience picker · schedule · drafts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7A7A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PULSE  ·  PEOPLE · UPDATES · LIFECYCLE · SOURCING · ENGAGEMENT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229600" y="484632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7A7A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20 / 25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EFF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FC40"/>
          </a:solidFill>
          <a:ln w="12700">
            <a:solidFill>
              <a:srgbClr val="3838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76656" y="36576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ROADMAP · PILLAR 02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-100" kern="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Internal template generation engine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7A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Offer letters · contracts · comms posts · onboarding kits — generated, branded, governed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12064" y="1837944"/>
            <a:ext cx="2011680" cy="1508760"/>
          </a:xfrm>
          <a:prstGeom prst="rect">
            <a:avLst/>
          </a:prstGeom>
          <a:solidFill>
            <a:srgbClr val="383832"/>
          </a:solidFill>
          <a:ln w="12700">
            <a:solidFill>
              <a:srgbClr val="3838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783080"/>
            <a:ext cx="2011680" cy="1508760"/>
          </a:xfrm>
          <a:prstGeom prst="rect">
            <a:avLst/>
          </a:prstGeom>
          <a:solidFill>
            <a:srgbClr val="FFFFFF"/>
          </a:solidFill>
          <a:ln w="19050">
            <a:solidFill>
              <a:srgbClr val="38383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783080"/>
            <a:ext cx="2011680" cy="274320"/>
          </a:xfrm>
          <a:prstGeom prst="rect">
            <a:avLst/>
          </a:prstGeom>
          <a:solidFill>
            <a:srgbClr val="383832"/>
          </a:solidFill>
          <a:ln w="12700">
            <a:solidFill>
              <a:srgbClr val="3838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FC4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OFFERS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214884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Salary band, equity, perks — pulled from PULSE position record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578608" y="1837944"/>
            <a:ext cx="2011680" cy="1508760"/>
          </a:xfrm>
          <a:prstGeom prst="rect">
            <a:avLst/>
          </a:prstGeom>
          <a:solidFill>
            <a:srgbClr val="383832"/>
          </a:solidFill>
          <a:ln w="12700">
            <a:solidFill>
              <a:srgbClr val="38383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23744" y="1783080"/>
            <a:ext cx="2011680" cy="1508760"/>
          </a:xfrm>
          <a:prstGeom prst="rect">
            <a:avLst/>
          </a:prstGeom>
          <a:solidFill>
            <a:srgbClr val="FFFFFF"/>
          </a:solidFill>
          <a:ln w="19050">
            <a:solidFill>
              <a:srgbClr val="38383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23744" y="1783080"/>
            <a:ext cx="2011680" cy="274320"/>
          </a:xfrm>
          <a:prstGeom prst="rect">
            <a:avLst/>
          </a:prstGeom>
          <a:solidFill>
            <a:srgbClr val="383832"/>
          </a:solidFill>
          <a:ln w="12700">
            <a:solidFill>
              <a:srgbClr val="3838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15184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FC4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CONTRACTS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60904" y="214884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Country-specific clauses · legal reviewer in the loop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45152" y="1837944"/>
            <a:ext cx="2011680" cy="1508760"/>
          </a:xfrm>
          <a:prstGeom prst="rect">
            <a:avLst/>
          </a:prstGeom>
          <a:solidFill>
            <a:srgbClr val="383832"/>
          </a:solidFill>
          <a:ln w="12700">
            <a:solidFill>
              <a:srgbClr val="38383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90288" y="1783080"/>
            <a:ext cx="2011680" cy="1508760"/>
          </a:xfrm>
          <a:prstGeom prst="rect">
            <a:avLst/>
          </a:prstGeom>
          <a:solidFill>
            <a:srgbClr val="FFFFFF"/>
          </a:solidFill>
          <a:ln w="19050">
            <a:solidFill>
              <a:srgbClr val="38383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90288" y="1783080"/>
            <a:ext cx="2011680" cy="274320"/>
          </a:xfrm>
          <a:prstGeom prst="rect">
            <a:avLst/>
          </a:prstGeom>
          <a:solidFill>
            <a:srgbClr val="383832"/>
          </a:solidFill>
          <a:ln w="12700">
            <a:solidFill>
              <a:srgbClr val="3838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81728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FC4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ONBOARDING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27448" y="214884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Day-1 kit · per-role checklist · per-team handbook injection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711696" y="1837944"/>
            <a:ext cx="2011680" cy="1508760"/>
          </a:xfrm>
          <a:prstGeom prst="rect">
            <a:avLst/>
          </a:prstGeom>
          <a:solidFill>
            <a:srgbClr val="383832"/>
          </a:solidFill>
          <a:ln w="12700">
            <a:solidFill>
              <a:srgbClr val="38383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56832" y="1783080"/>
            <a:ext cx="2011680" cy="1508760"/>
          </a:xfrm>
          <a:prstGeom prst="rect">
            <a:avLst/>
          </a:prstGeom>
          <a:solidFill>
            <a:srgbClr val="FFFFFF"/>
          </a:solidFill>
          <a:ln w="19050">
            <a:solidFill>
              <a:srgbClr val="38383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656832" y="1783080"/>
            <a:ext cx="2011680" cy="274320"/>
          </a:xfrm>
          <a:prstGeom prst="rect">
            <a:avLst/>
          </a:prstGeom>
          <a:solidFill>
            <a:srgbClr val="383832"/>
          </a:solidFill>
          <a:ln w="12700">
            <a:solidFill>
              <a:srgbClr val="38383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48272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FC4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INTERNAL POSTS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793992" y="214884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Org changes · policy updates · brand-voice templates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12064" y="3483864"/>
            <a:ext cx="8229600" cy="1097280"/>
          </a:xfrm>
          <a:prstGeom prst="rect">
            <a:avLst/>
          </a:prstGeom>
          <a:solidFill>
            <a:srgbClr val="383832"/>
          </a:solidFill>
          <a:ln w="12700">
            <a:solidFill>
              <a:srgbClr val="38383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3429000"/>
            <a:ext cx="822960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38383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35204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A7A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HOW IT WORKS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40080" y="3840480"/>
            <a:ext cx="1188720" cy="502920"/>
          </a:xfrm>
          <a:prstGeom prst="rect">
            <a:avLst/>
          </a:prstGeom>
          <a:solidFill>
            <a:srgbClr val="383832"/>
          </a:solidFill>
          <a:ln w="12700">
            <a:solidFill>
              <a:srgbClr val="38383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38404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0FC4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INTENT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828800" y="3840480"/>
            <a:ext cx="137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→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1965960" y="3840480"/>
            <a:ext cx="1188720" cy="502920"/>
          </a:xfrm>
          <a:prstGeom prst="rect">
            <a:avLst/>
          </a:prstGeom>
          <a:solidFill>
            <a:srgbClr val="383832"/>
          </a:solidFill>
          <a:ln w="12700">
            <a:solidFill>
              <a:srgbClr val="38383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965960" y="38404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0FC4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RETRIEVE FACTS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154680" y="3840480"/>
            <a:ext cx="137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→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291840" y="3840480"/>
            <a:ext cx="1188720" cy="502920"/>
          </a:xfrm>
          <a:prstGeom prst="rect">
            <a:avLst/>
          </a:prstGeom>
          <a:solidFill>
            <a:srgbClr val="383832"/>
          </a:solidFill>
          <a:ln w="12700">
            <a:solidFill>
              <a:srgbClr val="38383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1840" y="38404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0FC4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DRAFT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480560" y="3840480"/>
            <a:ext cx="137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→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617720" y="3840480"/>
            <a:ext cx="1188720" cy="502920"/>
          </a:xfrm>
          <a:prstGeom prst="rect">
            <a:avLst/>
          </a:prstGeom>
          <a:solidFill>
            <a:srgbClr val="383832"/>
          </a:solidFill>
          <a:ln w="12700">
            <a:solidFill>
              <a:srgbClr val="38383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17720" y="38404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0FC4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POLICY CHECK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806440" y="3840480"/>
            <a:ext cx="137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→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5943600" y="3840480"/>
            <a:ext cx="1188720" cy="502920"/>
          </a:xfrm>
          <a:prstGeom prst="rect">
            <a:avLst/>
          </a:prstGeom>
          <a:solidFill>
            <a:srgbClr val="383832"/>
          </a:solidFill>
          <a:ln w="12700">
            <a:solidFill>
              <a:srgbClr val="38383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43600" y="38404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0FC4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HUMAN REVIEW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132320" y="3840480"/>
            <a:ext cx="137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→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7269480" y="3840480"/>
            <a:ext cx="1188720" cy="502920"/>
          </a:xfrm>
          <a:prstGeom prst="rect">
            <a:avLst/>
          </a:prstGeom>
          <a:solidFill>
            <a:srgbClr val="383832"/>
          </a:solidFill>
          <a:ln w="12700">
            <a:solidFill>
              <a:srgbClr val="38383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269480" y="38404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0FC4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DELIVER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7A7A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PULSE  ·  PEOPLE · UPDATES · LIFECYCLE · SOURCING · ENGAGEMENT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8229600" y="484632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7A7A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21 / 25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EFF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FC40"/>
          </a:solidFill>
          <a:ln w="12700">
            <a:solidFill>
              <a:srgbClr val="3838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76656" y="36576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ROADMAP · PILLAR 03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-100" kern="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Agentic, end-to-end OS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7A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Today's 11-tool agent grows into a multi-agent fabric that runs the whole loop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12064" y="1837944"/>
            <a:ext cx="4023360" cy="1325880"/>
          </a:xfrm>
          <a:prstGeom prst="rect">
            <a:avLst/>
          </a:prstGeom>
          <a:solidFill>
            <a:srgbClr val="383832"/>
          </a:solidFill>
          <a:ln w="12700">
            <a:solidFill>
              <a:srgbClr val="3838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783080"/>
            <a:ext cx="402336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38383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783080"/>
            <a:ext cx="54864" cy="1325880"/>
          </a:xfrm>
          <a:prstGeom prst="rect">
            <a:avLst/>
          </a:prstGeom>
          <a:solidFill>
            <a:srgbClr val="00FC40"/>
          </a:solidFill>
          <a:ln w="12700">
            <a:solidFill>
              <a:srgbClr val="00FC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9202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 FABRIC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21792" y="228600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Multi-agent: Sourcer · Screener · Comms · Templater · Ops — each owns a domain, share memory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26864" y="1837944"/>
            <a:ext cx="4023360" cy="1325880"/>
          </a:xfrm>
          <a:prstGeom prst="rect">
            <a:avLst/>
          </a:prstGeom>
          <a:solidFill>
            <a:srgbClr val="383832"/>
          </a:solidFill>
          <a:ln w="12700">
            <a:solidFill>
              <a:srgbClr val="38383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1783080"/>
            <a:ext cx="402336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38383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1783080"/>
            <a:ext cx="54864" cy="1325880"/>
          </a:xfrm>
          <a:prstGeom prst="rect">
            <a:avLst/>
          </a:prstGeom>
          <a:solidFill>
            <a:srgbClr val="00FC40"/>
          </a:solidFill>
          <a:ln w="12700">
            <a:solidFill>
              <a:srgbClr val="00FC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36592" y="19202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TOOLS GROW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36592" y="228600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Today 11 → tomorrow 30+: schedule_interview, send_offer, post_announcement, generate_template, sync_sharepoint…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12064" y="3255264"/>
            <a:ext cx="4023360" cy="1325880"/>
          </a:xfrm>
          <a:prstGeom prst="rect">
            <a:avLst/>
          </a:prstGeom>
          <a:solidFill>
            <a:srgbClr val="383832"/>
          </a:solidFill>
          <a:ln w="12700">
            <a:solidFill>
              <a:srgbClr val="38383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200400"/>
            <a:ext cx="402336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38383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200400"/>
            <a:ext cx="54864" cy="1325880"/>
          </a:xfrm>
          <a:prstGeom prst="rect">
            <a:avLst/>
          </a:prstGeom>
          <a:solidFill>
            <a:srgbClr val="00FC40"/>
          </a:solidFill>
          <a:ln w="12700">
            <a:solidFill>
              <a:srgbClr val="00FC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" y="33375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MEMORY GROWS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1792" y="370332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Per-agent + org-wide pgvector memory · long-term episodic · 'org brain' becomes first-class queryable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26864" y="3255264"/>
            <a:ext cx="4023360" cy="1325880"/>
          </a:xfrm>
          <a:prstGeom prst="rect">
            <a:avLst/>
          </a:prstGeom>
          <a:solidFill>
            <a:srgbClr val="383832"/>
          </a:solidFill>
          <a:ln w="12700">
            <a:solidFill>
              <a:srgbClr val="38383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0" y="3200400"/>
            <a:ext cx="402336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38383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0" y="3200400"/>
            <a:ext cx="54864" cy="1325880"/>
          </a:xfrm>
          <a:prstGeom prst="rect">
            <a:avLst/>
          </a:prstGeom>
          <a:solidFill>
            <a:srgbClr val="00FC40"/>
          </a:solidFill>
          <a:ln w="12700">
            <a:solidFill>
              <a:srgbClr val="00FC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36592" y="33375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GOVERNANCE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736592" y="370332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Policy DSL · approval chains per action · cost cap per agent · CI eval per tool · full audit trail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7A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Same data plane. Many agents. Real outcomes — not just answers.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7A7A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PULSE  ·  PEOPLE · UPDATES · LIFECYCLE · SOURCING · ENGAGEMENT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229600" y="484632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7A7A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22 / 25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EFF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FC40"/>
          </a:solidFill>
          <a:ln w="12700">
            <a:solidFill>
              <a:srgbClr val="3838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76656" y="36576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ROADMAP · TIMELINE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-100" kern="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Phased rollout · Q3 2026 → Q1 2027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7A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Ship the boring foundations first; agentic surface lights up last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12064" y="1837944"/>
            <a:ext cx="2697480" cy="2743200"/>
          </a:xfrm>
          <a:prstGeom prst="rect">
            <a:avLst/>
          </a:prstGeom>
          <a:solidFill>
            <a:srgbClr val="383832"/>
          </a:solidFill>
          <a:ln w="12700">
            <a:solidFill>
              <a:srgbClr val="3838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783080"/>
            <a:ext cx="269748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38383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783080"/>
            <a:ext cx="2697480" cy="502920"/>
          </a:xfrm>
          <a:prstGeom prst="rect">
            <a:avLst/>
          </a:prstGeom>
          <a:solidFill>
            <a:srgbClr val="383832"/>
          </a:solidFill>
          <a:ln w="12700">
            <a:solidFill>
              <a:srgbClr val="3838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83794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0075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Q3 26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874520" y="1837944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FEFFD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FOUNDATION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2468880"/>
            <a:ext cx="23317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5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Microsoft Graph integration scaffolding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5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comms_* tables · feature flag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5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Internal pilot — 1 dept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82696" y="1837944"/>
            <a:ext cx="2697480" cy="2743200"/>
          </a:xfrm>
          <a:prstGeom prst="rect">
            <a:avLst/>
          </a:prstGeom>
          <a:solidFill>
            <a:srgbClr val="383832"/>
          </a:solidFill>
          <a:ln w="12700">
            <a:solidFill>
              <a:srgbClr val="38383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27832" y="1783080"/>
            <a:ext cx="269748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38383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27832" y="1783080"/>
            <a:ext cx="2697480" cy="502920"/>
          </a:xfrm>
          <a:prstGeom prst="rect">
            <a:avLst/>
          </a:prstGeom>
          <a:solidFill>
            <a:srgbClr val="383832"/>
          </a:solidFill>
          <a:ln w="12700">
            <a:solidFill>
              <a:srgbClr val="3838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92424" y="183794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0075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Q4 26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45152" y="1837944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FEFFD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TEMPLATE ENGINE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410712" y="2468880"/>
            <a:ext cx="23317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5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Template DSL + retrieval over PULSE facts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5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Policy/legal review hooks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5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Offers + onboarding go-live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053328" y="1837944"/>
            <a:ext cx="2697480" cy="2743200"/>
          </a:xfrm>
          <a:prstGeom prst="rect">
            <a:avLst/>
          </a:prstGeom>
          <a:solidFill>
            <a:srgbClr val="383832"/>
          </a:solidFill>
          <a:ln w="12700">
            <a:solidFill>
              <a:srgbClr val="38383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98464" y="1783080"/>
            <a:ext cx="269748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38383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98464" y="1783080"/>
            <a:ext cx="2697480" cy="502920"/>
          </a:xfrm>
          <a:prstGeom prst="rect">
            <a:avLst/>
          </a:prstGeom>
          <a:solidFill>
            <a:srgbClr val="383832"/>
          </a:solidFill>
          <a:ln w="12700">
            <a:solidFill>
              <a:srgbClr val="3838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63056" y="183794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00FC4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Q1 27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415784" y="1837944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FEFFD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AGENTIC LIFT-OFF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181344" y="2468880"/>
            <a:ext cx="23317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5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Sourcer + Comms + Templater agents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5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Org-brain memory + audit log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5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Public general availability (GA)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7A7A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PULSE  ·  PEOPLE · UPDATES · LIFECYCLE · SOURCING · ENGAGEMENT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229600" y="484632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7A7A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23 / 25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EFF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FC40"/>
          </a:solidFill>
          <a:ln w="12700">
            <a:solidFill>
              <a:srgbClr val="3838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76656" y="36576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ROADMAP · RISK &amp; METRICS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-100" kern="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Risks &amp; success metrics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7A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Every roadmap slide deserves a risk slide. This is ours.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12064" y="1837944"/>
            <a:ext cx="4023360" cy="2743200"/>
          </a:xfrm>
          <a:prstGeom prst="rect">
            <a:avLst/>
          </a:prstGeom>
          <a:solidFill>
            <a:srgbClr val="383832"/>
          </a:solidFill>
          <a:ln w="12700">
            <a:solidFill>
              <a:srgbClr val="3838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783080"/>
            <a:ext cx="402336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3838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920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B850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RISKS WE'RE WATCHING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221284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 DRIFT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011680" y="221284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Tools picking wrong actions — eval gate + audit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40080" y="267004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COST BLOWUP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11680" y="267004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Run-away agent loops — session $ cap + LLM_GATE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40080" y="312724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GRAPH PERMS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011680" y="312724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Over-privileged AAD app — least-priv scopes only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40080" y="358444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PII LEAK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011680" y="358444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Email/template gen leaking PII — redaction + review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40080" y="404164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MIGRATION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11680" y="404164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Schema break on prod — additive-only guard already on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718304" y="1837944"/>
            <a:ext cx="4023360" cy="2743200"/>
          </a:xfrm>
          <a:prstGeom prst="rect">
            <a:avLst/>
          </a:prstGeom>
          <a:solidFill>
            <a:srgbClr val="383832"/>
          </a:solidFill>
          <a:ln w="12700">
            <a:solidFill>
              <a:srgbClr val="38383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1783080"/>
            <a:ext cx="4023360" cy="2743200"/>
          </a:xfrm>
          <a:prstGeom prst="rect">
            <a:avLst/>
          </a:prstGeom>
          <a:solidFill>
            <a:srgbClr val="383832"/>
          </a:solidFill>
          <a:ln w="19050">
            <a:solidFill>
              <a:srgbClr val="3838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1920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FC4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SUCCESS METRICS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46320" y="221284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FC4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TIME-TO-HIRE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400800" y="221284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EFFD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≥ 25% reduction vs baseline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846320" y="267004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FC4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TIME-TO-POST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400800" y="267004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EFFD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Comms drafts in &lt; 90s, approved in &lt; 5min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846320" y="312724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FC4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TEMPLATE COV.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400800" y="312724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EFFD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70% of recurring docs auto-generated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846320" y="358444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FC4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 EVAL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400800" y="358444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EFFD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Mean rubric ≥ 4.2 (gate is 4.0)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846320" y="404164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FC4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COST / HIRE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400800" y="404164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EFFD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≤ $0.50 LLM cost per closed candidate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7A7A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PULSE  ·  PEOPLE · UPDATES · LIFECYCLE · SOURCING · ENGAGEMENT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8229600" y="484632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7A7A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24 / 25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3838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292608" cy="292608"/>
          </a:xfrm>
          <a:prstGeom prst="rect">
            <a:avLst/>
          </a:prstGeom>
          <a:solidFill>
            <a:srgbClr val="00FC40"/>
          </a:solidFill>
          <a:ln w="12700">
            <a:solidFill>
              <a:srgbClr val="00FC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42062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0FC4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PULSE  ·  ORG HEARTBEAT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spc="-200" kern="0" dirty="0">
                <a:solidFill>
                  <a:srgbClr val="FEFFD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Hiring was just</a:t>
            </a:r>
            <a:endParaRPr lang="en-US" sz="5600" dirty="0"/>
          </a:p>
          <a:p>
            <a:pPr indent="0" marL="0">
              <a:buNone/>
            </a:pPr>
            <a:r>
              <a:rPr lang="en-US" sz="5600" b="1" spc="-200" kern="0" dirty="0">
                <a:solidFill>
                  <a:srgbClr val="FEFFD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first heartbeat.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57200" y="3337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FC4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Same data plane. Smarter control plane. Wider surface.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931920"/>
            <a:ext cx="2377440" cy="502920"/>
          </a:xfrm>
          <a:prstGeom prst="rect">
            <a:avLst/>
          </a:prstGeom>
          <a:solidFill>
            <a:srgbClr val="00FC40"/>
          </a:solidFill>
          <a:ln w="12700">
            <a:solidFill>
              <a:srgbClr val="00FC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9319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3838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READ AGENTS.MD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971800" y="3931920"/>
            <a:ext cx="2743200" cy="502920"/>
          </a:xfrm>
          <a:prstGeom prst="rect">
            <a:avLst/>
          </a:prstGeom>
          <a:solidFill>
            <a:srgbClr val="383832"/>
          </a:solidFill>
          <a:ln w="19050">
            <a:solidFill>
              <a:srgbClr val="00FC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71800" y="39319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00FC4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RUN COMPOSE UP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852160" y="3931920"/>
            <a:ext cx="2834640" cy="502920"/>
          </a:xfrm>
          <a:prstGeom prst="rect">
            <a:avLst/>
          </a:prstGeom>
          <a:solidFill>
            <a:srgbClr val="383832"/>
          </a:solidFill>
          <a:ln w="19050">
            <a:solidFill>
              <a:srgbClr val="00FC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52160" y="39319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00FC4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FLIP AGENT_V2 → TRUE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46177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A7A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INTERNAL  ·  MAY 2026  ·  v1.0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138160" y="46177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00FC4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25 / 25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PULSE — Deep Dive + Future Roadmap</dc:title>
  <dc:subject>PptxGenJS Presentation</dc:subject>
  <dc:creator>PULSE</dc:creator>
  <cp:lastModifiedBy>PULSE</cp:lastModifiedBy>
  <cp:revision>1</cp:revision>
  <dcterms:created xsi:type="dcterms:W3CDTF">2026-05-09T05:48:13Z</dcterms:created>
  <dcterms:modified xsi:type="dcterms:W3CDTF">2026-05-09T05:48:13Z</dcterms:modified>
</cp:coreProperties>
</file>